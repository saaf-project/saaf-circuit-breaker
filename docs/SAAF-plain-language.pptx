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a familiar customer-service situation, not software terminology. An assistant wants a happy customer and a good rating. The official rules still apply. The idea is to keep those rules outside the assistant's changeable instructions. We evaluate proposed actions in a local demo; we do not send actual refunds.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analogy: an inspector, a practice drill, a safety barrier and a review of the receipts. They are complementary, not four versions of the same check. Forge reads the setup. Rehearsal tries test situations. Sentinel decides whether a proposed action may continue. Verify re-checks the recorded evidence afterward. Shared policy is the common thread. The prototype has separate tools; this diagram is the intended workflow, not a claim of a fully automated end-to-end orchestration pipeline.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Forge's input is the program and official rules. It flags risky patterns such as self-editing instructions, performance pressure in context and missing decision logs, then emits a risk list and policy files. These files do not themselves guarantee safety; the runtime must enforce the rules. Rehearsal takes the rules and the canonical 36-ticket scenario. In this build, rewrites and pressure events are scripted, and the 16 personas are profiles, not independent interacting agents. The output is simulated loss and a trace of what happened, useful for comparing protection on versus off.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tool proposal is intercepted before any action is authorized. The hard check validates money, order value and the photo flag. Instruction and memory checks look for weakened rules or lessons promoting exceptions. Real Jev judgment helps assess that state, but it cannot override a failed money/evidence guard. The local runtime can halt the proposal, record a review item, and restore its server-owned last safe instructions and memory. This is a real persisted local transition, not restoration of an external production agent. Review is a local queue, not a notification sent to a real supervisor. A Jev failure or uncertain result halts for review. No external payment is executed.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Verify reads the saved decision log and approved rules, recalculates full-event hashes and parent links, and replays available guard inputs. It returns a consistency pass/fail and a readable report; changing a recorded verdict without recalculating the record fails. It cannot stop an action that already happened and does not prove a photo or a customer's story was true. Hash consistency is not a digital signature, proof of origin or a compliance certificate. Today the web demo has real Jev calls, hard guards, persisted local rollback and offline checks. The rehearsal remains scripted; signed transitions, external agent/container control and actual refunds are not connected. The workflow handoffs are not fully automated. End by inviting the organiser to see ticket 36 and the decision receipt.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2E8"/>
        </a:solidFill>
        <a:effectLst/>
      </p:bgPr>
    </p:bg>
    <p:spTree>
      <p:nvGrpSpPr>
        <p:cNvPr id="1" name=""/>
        <p:cNvGrpSpPr/>
        <p:nvPr/>
      </p:nvGrpSpPr>
      <p:grpSpPr/>
      <p:sp>
        <p:nvSpPr>
          <p:cNvPr id="2" name="TextBox 1"/>
          <p:cNvSpPr txBox="1"/>
          <p:nvPr/>
        </p:nvSpPr>
        <p:spPr>
          <a:xfrm>
            <a:off x="952500" y="619125"/>
            <a:ext cx="16383000" cy="381000"/>
          </a:xfrm>
          <a:prstGeom prst="rect">
            <a:avLst/>
          </a:prstGeom>
          <a:noFill/>
        </p:spPr>
        <p:txBody>
          <a:bodyPr wrap="square" anchor="t" lIns="0" rIns="0" tIns="0" bIns="0">
            <a:spAutoFit/>
          </a:bodyPr>
          <a:lstStyle/>
          <a:p>
            <a:pPr algn="l">
              <a:lnSpc>
                <a:spcPct val="114000"/>
              </a:lnSpc>
              <a:spcBef>
                <a:spcPts val="0"/>
              </a:spcBef>
              <a:spcAft>
                <a:spcPts val="0"/>
              </a:spcAft>
              <a:defRPr sz="1800" b="1">
                <a:solidFill>
                  <a:srgbClr val="146B57"/>
                </a:solidFill>
                <a:latin typeface="DM Sans"/>
              </a:defRPr>
            </a:pPr>
            <a:r>
              <a:t>THE IDEA  /  A SAFETY LAYER OUTSIDE THE AI</a:t>
            </a:r>
          </a:p>
        </p:txBody>
      </p:sp>
      <p:sp>
        <p:nvSpPr>
          <p:cNvPr id="3" name="TextBox 2"/>
          <p:cNvSpPr txBox="1"/>
          <p:nvPr/>
        </p:nvSpPr>
        <p:spPr>
          <a:xfrm>
            <a:off x="952500" y="1352550"/>
            <a:ext cx="16383000" cy="1028700"/>
          </a:xfrm>
          <a:prstGeom prst="rect">
            <a:avLst/>
          </a:prstGeom>
          <a:noFill/>
        </p:spPr>
        <p:txBody>
          <a:bodyPr wrap="square" anchor="t" lIns="0" rIns="0" tIns="0" bIns="0">
            <a:spAutoFit/>
          </a:bodyPr>
          <a:lstStyle/>
          <a:p>
            <a:pPr algn="l">
              <a:lnSpc>
                <a:spcPct val="114000"/>
              </a:lnSpc>
              <a:spcBef>
                <a:spcPts val="0"/>
              </a:spcBef>
              <a:spcAft>
                <a:spcPts val="0"/>
              </a:spcAft>
              <a:defRPr sz="6150" b="1">
                <a:solidFill>
                  <a:srgbClr val="18323C"/>
                </a:solidFill>
                <a:latin typeface="DM Sans"/>
              </a:defRPr>
            </a:pPr>
            <a:r>
              <a:t>Let the AI suggest.</a:t>
            </a:r>
          </a:p>
        </p:txBody>
      </p:sp>
      <p:sp>
        <p:nvSpPr>
          <p:cNvPr id="4" name="Rectangle 3"/>
          <p:cNvSpPr/>
          <p:nvPr/>
        </p:nvSpPr>
        <p:spPr>
          <a:xfrm>
            <a:off x="952500" y="9763125"/>
            <a:ext cx="16383000" cy="19050"/>
          </a:xfrm>
          <a:prstGeom prst="rect">
            <a:avLst/>
          </a:prstGeom>
          <a:solidFill>
            <a:srgbClr val="D7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2500" y="9906000"/>
            <a:ext cx="14192250" cy="285750"/>
          </a:xfrm>
          <a:prstGeom prst="rect">
            <a:avLst/>
          </a:prstGeom>
          <a:noFill/>
        </p:spPr>
        <p:txBody>
          <a:bodyPr wrap="square" anchor="t" lIns="0" rIns="0" tIns="0" bIns="0">
            <a:spAutoFit/>
          </a:bodyPr>
          <a:lstStyle/>
          <a:p>
            <a:pPr algn="l">
              <a:lnSpc>
                <a:spcPct val="114000"/>
              </a:lnSpc>
              <a:spcBef>
                <a:spcPts val="0"/>
              </a:spcBef>
              <a:spcAft>
                <a:spcPts val="0"/>
              </a:spcAft>
              <a:defRPr sz="1500" b="0">
                <a:solidFill>
                  <a:srgbClr val="536872"/>
                </a:solidFill>
                <a:latin typeface="DM Sans"/>
              </a:defRPr>
            </a:pPr>
            <a:r>
              <a:t>SAAF CIRCUIT BREAKER  /  JET CARE EXAMPLE</a:t>
            </a:r>
          </a:p>
        </p:txBody>
      </p:sp>
      <p:sp>
        <p:nvSpPr>
          <p:cNvPr id="6" name="TextBox 5"/>
          <p:cNvSpPr txBox="1"/>
          <p:nvPr/>
        </p:nvSpPr>
        <p:spPr>
          <a:xfrm>
            <a:off x="16478249" y="9906000"/>
            <a:ext cx="857250" cy="285750"/>
          </a:xfrm>
          <a:prstGeom prst="rect">
            <a:avLst/>
          </a:prstGeom>
          <a:noFill/>
        </p:spPr>
        <p:txBody>
          <a:bodyPr wrap="square" anchor="t" lIns="0" rIns="0" tIns="0" bIns="0">
            <a:spAutoFit/>
          </a:bodyPr>
          <a:lstStyle/>
          <a:p>
            <a:pPr algn="r">
              <a:lnSpc>
                <a:spcPct val="114000"/>
              </a:lnSpc>
              <a:spcBef>
                <a:spcPts val="0"/>
              </a:spcBef>
              <a:spcAft>
                <a:spcPts val="0"/>
              </a:spcAft>
              <a:defRPr sz="1500" b="0">
                <a:solidFill>
                  <a:srgbClr val="536872"/>
                </a:solidFill>
                <a:latin typeface="DM Sans"/>
              </a:defRPr>
            </a:pPr>
            <a:r>
              <a:t>1 / 5</a:t>
            </a:r>
          </a:p>
        </p:txBody>
      </p:sp>
      <p:sp>
        <p:nvSpPr>
          <p:cNvPr id="7" name="TextBox 6"/>
          <p:cNvSpPr txBox="1"/>
          <p:nvPr/>
        </p:nvSpPr>
        <p:spPr>
          <a:xfrm>
            <a:off x="952500" y="2447925"/>
            <a:ext cx="16383000" cy="1238250"/>
          </a:xfrm>
          <a:prstGeom prst="rect">
            <a:avLst/>
          </a:prstGeom>
          <a:noFill/>
        </p:spPr>
        <p:txBody>
          <a:bodyPr wrap="square" anchor="t" lIns="0" rIns="0" tIns="0" bIns="0">
            <a:spAutoFit/>
          </a:bodyPr>
          <a:lstStyle/>
          <a:p>
            <a:pPr algn="l">
              <a:lnSpc>
                <a:spcPct val="114000"/>
              </a:lnSpc>
              <a:spcBef>
                <a:spcPts val="0"/>
              </a:spcBef>
              <a:spcAft>
                <a:spcPts val="0"/>
              </a:spcAft>
              <a:defRPr sz="6150" b="1">
                <a:solidFill>
                  <a:srgbClr val="D94B27"/>
                </a:solidFill>
                <a:latin typeface="DM Sans"/>
              </a:defRPr>
            </a:pPr>
            <a:r>
              <a:t>Keep the rules in charge.</a:t>
            </a:r>
          </a:p>
        </p:txBody>
      </p:sp>
      <p:sp>
        <p:nvSpPr>
          <p:cNvPr id="8" name="TextBox 7"/>
          <p:cNvSpPr txBox="1"/>
          <p:nvPr/>
        </p:nvSpPr>
        <p:spPr>
          <a:xfrm>
            <a:off x="952500" y="4067175"/>
            <a:ext cx="16383000" cy="857250"/>
          </a:xfrm>
          <a:prstGeom prst="rect">
            <a:avLst/>
          </a:prstGeom>
          <a:noFill/>
        </p:spPr>
        <p:txBody>
          <a:bodyPr wrap="square" anchor="t" lIns="0" rIns="0" tIns="0" bIns="0">
            <a:spAutoFit/>
          </a:bodyPr>
          <a:lstStyle/>
          <a:p>
            <a:pPr algn="l">
              <a:lnSpc>
                <a:spcPct val="114000"/>
              </a:lnSpc>
              <a:spcBef>
                <a:spcPts val="0"/>
              </a:spcBef>
              <a:spcAft>
                <a:spcPts val="0"/>
              </a:spcAft>
              <a:defRPr sz="2850" b="0">
                <a:solidFill>
                  <a:srgbClr val="536872"/>
                </a:solidFill>
                <a:latin typeface="DM Sans"/>
              </a:defRPr>
            </a:pPr>
            <a:r>
              <a:t>A helpful assistant should not talk itself out of the refund policy.</a:t>
            </a:r>
          </a:p>
        </p:txBody>
      </p:sp>
      <p:sp>
        <p:nvSpPr>
          <p:cNvPr id="9" name="Rounded Rectangle 8"/>
          <p:cNvSpPr/>
          <p:nvPr/>
        </p:nvSpPr>
        <p:spPr>
          <a:xfrm>
            <a:off x="952500" y="5524500"/>
            <a:ext cx="4857750" cy="2333625"/>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38250" y="5810250"/>
            <a:ext cx="4286250" cy="381000"/>
          </a:xfrm>
          <a:prstGeom prst="rect">
            <a:avLst/>
          </a:prstGeom>
          <a:noFill/>
        </p:spPr>
        <p:txBody>
          <a:bodyPr wrap="square" anchor="t" lIns="0" rIns="0" tIns="0" bIns="0">
            <a:spAutoFit/>
          </a:bodyPr>
          <a:lstStyle/>
          <a:p>
            <a:pPr algn="l">
              <a:lnSpc>
                <a:spcPct val="114000"/>
              </a:lnSpc>
              <a:spcBef>
                <a:spcPts val="0"/>
              </a:spcBef>
              <a:spcAft>
                <a:spcPts val="0"/>
              </a:spcAft>
              <a:defRPr sz="1725" b="1">
                <a:solidFill>
                  <a:srgbClr val="18323C"/>
                </a:solidFill>
                <a:latin typeface="DM Sans"/>
              </a:defRPr>
            </a:pPr>
            <a:r>
              <a:t>THE CUSTOMER</a:t>
            </a:r>
          </a:p>
        </p:txBody>
      </p:sp>
      <p:sp>
        <p:nvSpPr>
          <p:cNvPr id="11" name="TextBox 10"/>
          <p:cNvSpPr txBox="1"/>
          <p:nvPr/>
        </p:nvSpPr>
        <p:spPr>
          <a:xfrm>
            <a:off x="1238250" y="6400800"/>
            <a:ext cx="4286250" cy="1238250"/>
          </a:xfrm>
          <a:prstGeom prst="rect">
            <a:avLst/>
          </a:prstGeom>
          <a:noFill/>
        </p:spPr>
        <p:txBody>
          <a:bodyPr wrap="square" anchor="t" lIns="0" rIns="0" tIns="0" bIns="0">
            <a:spAutoFit/>
          </a:bodyPr>
          <a:lstStyle/>
          <a:p>
            <a:pPr algn="l">
              <a:lnSpc>
                <a:spcPct val="114000"/>
              </a:lnSpc>
              <a:spcBef>
                <a:spcPts val="0"/>
              </a:spcBef>
              <a:spcAft>
                <a:spcPts val="0"/>
              </a:spcAft>
              <a:defRPr sz="2850" b="1">
                <a:solidFill>
                  <a:srgbClr val="18323C"/>
                </a:solidFill>
                <a:latin typeface="DM Sans"/>
              </a:defRPr>
            </a:pPr>
            <a:r>
              <a:t>“Refund €21.35.</a:t>
            </a:r>
          </a:p>
          <a:p>
            <a:pPr algn="l">
              <a:lnSpc>
                <a:spcPct val="114000"/>
              </a:lnSpc>
              <a:spcBef>
                <a:spcPts val="0"/>
              </a:spcBef>
              <a:spcAft>
                <a:spcPts val="0"/>
              </a:spcAft>
              <a:defRPr sz="2850" b="1">
                <a:solidFill>
                  <a:srgbClr val="18323C"/>
                </a:solidFill>
                <a:latin typeface="DM Sans"/>
              </a:defRPr>
            </a:pPr>
            <a:r>
              <a:t>I have no photo.”</a:t>
            </a:r>
          </a:p>
        </p:txBody>
      </p:sp>
      <p:sp>
        <p:nvSpPr>
          <p:cNvPr id="12" name="Rounded Rectangle 11"/>
          <p:cNvSpPr/>
          <p:nvPr/>
        </p:nvSpPr>
        <p:spPr>
          <a:xfrm>
            <a:off x="6477000" y="5524500"/>
            <a:ext cx="4857750" cy="2333625"/>
          </a:xfrm>
          <a:prstGeom prst="roundRect">
            <a:avLst>
              <a:gd name="adj" fmla="val 7000"/>
            </a:avLst>
          </a:prstGeom>
          <a:solidFill>
            <a:srgbClr val="E5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2750" y="5810250"/>
            <a:ext cx="4286250" cy="381000"/>
          </a:xfrm>
          <a:prstGeom prst="rect">
            <a:avLst/>
          </a:prstGeom>
          <a:noFill/>
        </p:spPr>
        <p:txBody>
          <a:bodyPr wrap="square" anchor="t" lIns="0" rIns="0" tIns="0" bIns="0">
            <a:spAutoFit/>
          </a:bodyPr>
          <a:lstStyle/>
          <a:p>
            <a:pPr algn="l">
              <a:lnSpc>
                <a:spcPct val="114000"/>
              </a:lnSpc>
              <a:spcBef>
                <a:spcPts val="0"/>
              </a:spcBef>
              <a:spcAft>
                <a:spcPts val="0"/>
              </a:spcAft>
              <a:defRPr sz="1725" b="1">
                <a:solidFill>
                  <a:srgbClr val="146B57"/>
                </a:solidFill>
                <a:latin typeface="DM Sans"/>
              </a:defRPr>
            </a:pPr>
            <a:r>
              <a:t>THE BUSINESS RULE</a:t>
            </a:r>
          </a:p>
        </p:txBody>
      </p:sp>
      <p:sp>
        <p:nvSpPr>
          <p:cNvPr id="14" name="TextBox 13"/>
          <p:cNvSpPr txBox="1"/>
          <p:nvPr/>
        </p:nvSpPr>
        <p:spPr>
          <a:xfrm>
            <a:off x="6762750" y="6400800"/>
            <a:ext cx="4286250" cy="1238250"/>
          </a:xfrm>
          <a:prstGeom prst="rect">
            <a:avLst/>
          </a:prstGeom>
          <a:noFill/>
        </p:spPr>
        <p:txBody>
          <a:bodyPr wrap="square" anchor="t" lIns="0" rIns="0" tIns="0" bIns="0">
            <a:spAutoFit/>
          </a:bodyPr>
          <a:lstStyle/>
          <a:p>
            <a:pPr algn="l">
              <a:lnSpc>
                <a:spcPct val="114000"/>
              </a:lnSpc>
              <a:spcBef>
                <a:spcPts val="0"/>
              </a:spcBef>
              <a:spcAft>
                <a:spcPts val="0"/>
              </a:spcAft>
              <a:defRPr sz="2850" b="1">
                <a:solidFill>
                  <a:srgbClr val="146B57"/>
                </a:solidFill>
                <a:latin typeface="DM Sans"/>
              </a:defRPr>
            </a:pPr>
            <a:r>
              <a:t>€20 maximum.</a:t>
            </a:r>
          </a:p>
          <a:p>
            <a:pPr algn="l">
              <a:lnSpc>
                <a:spcPct val="114000"/>
              </a:lnSpc>
              <a:spcBef>
                <a:spcPts val="0"/>
              </a:spcBef>
              <a:spcAft>
                <a:spcPts val="0"/>
              </a:spcAft>
              <a:defRPr sz="2850" b="1">
                <a:solidFill>
                  <a:srgbClr val="146B57"/>
                </a:solidFill>
                <a:latin typeface="DM Sans"/>
              </a:defRPr>
            </a:pPr>
            <a:r>
              <a:t>Evidence required.</a:t>
            </a:r>
          </a:p>
        </p:txBody>
      </p:sp>
      <p:sp>
        <p:nvSpPr>
          <p:cNvPr id="15" name="Rounded Rectangle 14"/>
          <p:cNvSpPr/>
          <p:nvPr/>
        </p:nvSpPr>
        <p:spPr>
          <a:xfrm>
            <a:off x="12001500" y="5524500"/>
            <a:ext cx="5334000" cy="2333625"/>
          </a:xfrm>
          <a:prstGeom prst="roundRect">
            <a:avLst>
              <a:gd name="adj" fmla="val 7000"/>
            </a:avLst>
          </a:prstGeom>
          <a:solidFill>
            <a:srgbClr val="FBE5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287250" y="5810250"/>
            <a:ext cx="4762500" cy="381000"/>
          </a:xfrm>
          <a:prstGeom prst="rect">
            <a:avLst/>
          </a:prstGeom>
          <a:noFill/>
        </p:spPr>
        <p:txBody>
          <a:bodyPr wrap="square" anchor="t" lIns="0" rIns="0" tIns="0" bIns="0">
            <a:spAutoFit/>
          </a:bodyPr>
          <a:lstStyle/>
          <a:p>
            <a:pPr algn="l">
              <a:lnSpc>
                <a:spcPct val="114000"/>
              </a:lnSpc>
              <a:spcBef>
                <a:spcPts val="0"/>
              </a:spcBef>
              <a:spcAft>
                <a:spcPts val="0"/>
              </a:spcAft>
              <a:defRPr sz="1725" b="1">
                <a:solidFill>
                  <a:srgbClr val="D94B27"/>
                </a:solidFill>
                <a:latin typeface="DM Sans"/>
              </a:defRPr>
            </a:pPr>
            <a:r>
              <a:t>THE RISK</a:t>
            </a:r>
          </a:p>
        </p:txBody>
      </p:sp>
      <p:sp>
        <p:nvSpPr>
          <p:cNvPr id="17" name="TextBox 16"/>
          <p:cNvSpPr txBox="1"/>
          <p:nvPr/>
        </p:nvSpPr>
        <p:spPr>
          <a:xfrm>
            <a:off x="12287250" y="6400800"/>
            <a:ext cx="4762500" cy="1238250"/>
          </a:xfrm>
          <a:prstGeom prst="rect">
            <a:avLst/>
          </a:prstGeom>
          <a:noFill/>
        </p:spPr>
        <p:txBody>
          <a:bodyPr wrap="square" anchor="t" lIns="0" rIns="0" tIns="0" bIns="0">
            <a:spAutoFit/>
          </a:bodyPr>
          <a:lstStyle/>
          <a:p>
            <a:pPr algn="l">
              <a:lnSpc>
                <a:spcPct val="114000"/>
              </a:lnSpc>
              <a:spcBef>
                <a:spcPts val="0"/>
              </a:spcBef>
              <a:spcAft>
                <a:spcPts val="0"/>
              </a:spcAft>
              <a:defRPr sz="2850" b="1">
                <a:solidFill>
                  <a:srgbClr val="D94B27"/>
                </a:solidFill>
                <a:latin typeface="DM Sans"/>
              </a:defRPr>
            </a:pPr>
            <a:r>
              <a:t>High customer ratings</a:t>
            </a:r>
          </a:p>
          <a:p>
            <a:pPr algn="l">
              <a:lnSpc>
                <a:spcPct val="114000"/>
              </a:lnSpc>
              <a:spcBef>
                <a:spcPts val="0"/>
              </a:spcBef>
              <a:spcAft>
                <a:spcPts val="0"/>
              </a:spcAft>
              <a:defRPr sz="2850" b="1">
                <a:solidFill>
                  <a:srgbClr val="D94B27"/>
                </a:solidFill>
                <a:latin typeface="DM Sans"/>
              </a:defRPr>
            </a:pPr>
            <a:r>
              <a:t>must not change the rules.</a:t>
            </a:r>
          </a:p>
        </p:txBody>
      </p:sp>
      <p:sp>
        <p:nvSpPr>
          <p:cNvPr id="18" name="TextBox 17"/>
          <p:cNvSpPr txBox="1"/>
          <p:nvPr/>
        </p:nvSpPr>
        <p:spPr>
          <a:xfrm>
            <a:off x="952500" y="8572500"/>
            <a:ext cx="16383000" cy="619125"/>
          </a:xfrm>
          <a:prstGeom prst="rect">
            <a:avLst/>
          </a:prstGeom>
          <a:noFill/>
        </p:spPr>
        <p:txBody>
          <a:bodyPr wrap="square" anchor="t" lIns="0" rIns="0" tIns="0" bIns="0">
            <a:spAutoFit/>
          </a:bodyPr>
          <a:lstStyle/>
          <a:p>
            <a:pPr algn="l">
              <a:lnSpc>
                <a:spcPct val="114000"/>
              </a:lnSpc>
              <a:spcBef>
                <a:spcPts val="0"/>
              </a:spcBef>
              <a:spcAft>
                <a:spcPts val="0"/>
              </a:spcAft>
              <a:defRPr sz="3000" b="1">
                <a:solidFill>
                  <a:srgbClr val="18323C"/>
                </a:solidFill>
                <a:latin typeface="DM Sans"/>
              </a:defRPr>
            </a:pPr>
            <a:r>
              <a:t>The assistant proposes. An independent guard can say 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2E8"/>
        </a:solidFill>
        <a:effectLst/>
      </p:bgPr>
    </p:bg>
    <p:spTree>
      <p:nvGrpSpPr>
        <p:cNvPr id="1" name=""/>
        <p:cNvGrpSpPr/>
        <p:nvPr/>
      </p:nvGrpSpPr>
      <p:grpSpPr/>
      <p:sp>
        <p:nvSpPr>
          <p:cNvPr id="2" name="TextBox 1"/>
          <p:cNvSpPr txBox="1"/>
          <p:nvPr/>
        </p:nvSpPr>
        <p:spPr>
          <a:xfrm>
            <a:off x="952500" y="619125"/>
            <a:ext cx="16383000" cy="381000"/>
          </a:xfrm>
          <a:prstGeom prst="rect">
            <a:avLst/>
          </a:prstGeom>
          <a:noFill/>
        </p:spPr>
        <p:txBody>
          <a:bodyPr wrap="square" anchor="t" lIns="0" rIns="0" tIns="0" bIns="0">
            <a:spAutoFit/>
          </a:bodyPr>
          <a:lstStyle/>
          <a:p>
            <a:pPr algn="l">
              <a:lnSpc>
                <a:spcPct val="114000"/>
              </a:lnSpc>
              <a:spcBef>
                <a:spcPts val="0"/>
              </a:spcBef>
              <a:spcAft>
                <a:spcPts val="0"/>
              </a:spcAft>
              <a:defRPr sz="1800" b="1">
                <a:solidFill>
                  <a:srgbClr val="146B57"/>
                </a:solidFill>
                <a:latin typeface="DM Sans"/>
              </a:defRPr>
            </a:pPr>
            <a:r>
              <a:t>THE WORKFLOW</a:t>
            </a:r>
          </a:p>
        </p:txBody>
      </p:sp>
      <p:sp>
        <p:nvSpPr>
          <p:cNvPr id="3" name="TextBox 2"/>
          <p:cNvSpPr txBox="1"/>
          <p:nvPr/>
        </p:nvSpPr>
        <p:spPr>
          <a:xfrm>
            <a:off x="952500" y="1352550"/>
            <a:ext cx="16383000" cy="1238250"/>
          </a:xfrm>
          <a:prstGeom prst="rect">
            <a:avLst/>
          </a:prstGeom>
          <a:noFill/>
        </p:spPr>
        <p:txBody>
          <a:bodyPr wrap="square" anchor="t" lIns="0" rIns="0" tIns="0" bIns="0">
            <a:spAutoFit/>
          </a:bodyPr>
          <a:lstStyle/>
          <a:p>
            <a:pPr algn="l">
              <a:lnSpc>
                <a:spcPct val="114000"/>
              </a:lnSpc>
              <a:spcBef>
                <a:spcPts val="0"/>
              </a:spcBef>
              <a:spcAft>
                <a:spcPts val="0"/>
              </a:spcAft>
              <a:defRPr sz="6150" b="1">
                <a:solidFill>
                  <a:srgbClr val="18323C"/>
                </a:solidFill>
                <a:latin typeface="DM Sans"/>
              </a:defRPr>
            </a:pPr>
            <a:r>
              <a:t>Four stages. Four different jobs.</a:t>
            </a:r>
          </a:p>
        </p:txBody>
      </p:sp>
      <p:sp>
        <p:nvSpPr>
          <p:cNvPr id="4" name="TextBox 3"/>
          <p:cNvSpPr txBox="1"/>
          <p:nvPr/>
        </p:nvSpPr>
        <p:spPr>
          <a:xfrm>
            <a:off x="952500" y="2686050"/>
            <a:ext cx="16383000" cy="857250"/>
          </a:xfrm>
          <a:prstGeom prst="rect">
            <a:avLst/>
          </a:prstGeom>
          <a:noFill/>
        </p:spPr>
        <p:txBody>
          <a:bodyPr wrap="square" anchor="t" lIns="0" rIns="0" tIns="0" bIns="0">
            <a:spAutoFit/>
          </a:bodyPr>
          <a:lstStyle/>
          <a:p>
            <a:pPr algn="l">
              <a:lnSpc>
                <a:spcPct val="114000"/>
              </a:lnSpc>
              <a:spcBef>
                <a:spcPts val="0"/>
              </a:spcBef>
              <a:spcAft>
                <a:spcPts val="0"/>
              </a:spcAft>
              <a:defRPr sz="2550" b="0">
                <a:solidFill>
                  <a:srgbClr val="536872"/>
                </a:solidFill>
                <a:latin typeface="DM Sans"/>
              </a:defRPr>
            </a:pPr>
            <a:r>
              <a:t>Inspect + practice before launch. Guard before action. Check afterward.</a:t>
            </a:r>
          </a:p>
        </p:txBody>
      </p:sp>
      <p:sp>
        <p:nvSpPr>
          <p:cNvPr id="5" name="Rectangle 4"/>
          <p:cNvSpPr/>
          <p:nvPr/>
        </p:nvSpPr>
        <p:spPr>
          <a:xfrm>
            <a:off x="952500" y="9763125"/>
            <a:ext cx="16383000" cy="19050"/>
          </a:xfrm>
          <a:prstGeom prst="rect">
            <a:avLst/>
          </a:prstGeom>
          <a:solidFill>
            <a:srgbClr val="D7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2500" y="9906000"/>
            <a:ext cx="14192250" cy="285750"/>
          </a:xfrm>
          <a:prstGeom prst="rect">
            <a:avLst/>
          </a:prstGeom>
          <a:noFill/>
        </p:spPr>
        <p:txBody>
          <a:bodyPr wrap="square" anchor="t" lIns="0" rIns="0" tIns="0" bIns="0">
            <a:spAutoFit/>
          </a:bodyPr>
          <a:lstStyle/>
          <a:p>
            <a:pPr algn="l">
              <a:lnSpc>
                <a:spcPct val="114000"/>
              </a:lnSpc>
              <a:spcBef>
                <a:spcPts val="0"/>
              </a:spcBef>
              <a:spcAft>
                <a:spcPts val="0"/>
              </a:spcAft>
              <a:defRPr sz="1500" b="0">
                <a:solidFill>
                  <a:srgbClr val="536872"/>
                </a:solidFill>
                <a:latin typeface="DM Sans"/>
              </a:defRPr>
            </a:pPr>
            <a:r>
              <a:t>SAAF CIRCUIT BREAKER  /  JET CARE EXAMPLE</a:t>
            </a:r>
          </a:p>
        </p:txBody>
      </p:sp>
      <p:sp>
        <p:nvSpPr>
          <p:cNvPr id="7" name="TextBox 6"/>
          <p:cNvSpPr txBox="1"/>
          <p:nvPr/>
        </p:nvSpPr>
        <p:spPr>
          <a:xfrm>
            <a:off x="16478249" y="9906000"/>
            <a:ext cx="857250" cy="285750"/>
          </a:xfrm>
          <a:prstGeom prst="rect">
            <a:avLst/>
          </a:prstGeom>
          <a:noFill/>
        </p:spPr>
        <p:txBody>
          <a:bodyPr wrap="square" anchor="t" lIns="0" rIns="0" tIns="0" bIns="0">
            <a:spAutoFit/>
          </a:bodyPr>
          <a:lstStyle/>
          <a:p>
            <a:pPr algn="r">
              <a:lnSpc>
                <a:spcPct val="114000"/>
              </a:lnSpc>
              <a:spcBef>
                <a:spcPts val="0"/>
              </a:spcBef>
              <a:spcAft>
                <a:spcPts val="0"/>
              </a:spcAft>
              <a:defRPr sz="1500" b="0">
                <a:solidFill>
                  <a:srgbClr val="536872"/>
                </a:solidFill>
                <a:latin typeface="DM Sans"/>
              </a:defRPr>
            </a:pPr>
            <a:r>
              <a:t>2 / 5</a:t>
            </a:r>
          </a:p>
        </p:txBody>
      </p:sp>
      <p:sp>
        <p:nvSpPr>
          <p:cNvPr id="8" name="Rounded Rectangle 7"/>
          <p:cNvSpPr/>
          <p:nvPr/>
        </p:nvSpPr>
        <p:spPr>
          <a:xfrm>
            <a:off x="952500" y="4000500"/>
            <a:ext cx="3714750" cy="3476625"/>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19200" y="4267200"/>
            <a:ext cx="3181350" cy="428625"/>
          </a:xfrm>
          <a:prstGeom prst="rect">
            <a:avLst/>
          </a:prstGeom>
          <a:noFill/>
        </p:spPr>
        <p:txBody>
          <a:bodyPr wrap="square" anchor="t" lIns="0" rIns="0" tIns="0" bIns="0">
            <a:spAutoFit/>
          </a:bodyPr>
          <a:lstStyle/>
          <a:p>
            <a:pPr algn="l">
              <a:lnSpc>
                <a:spcPct val="114000"/>
              </a:lnSpc>
              <a:spcBef>
                <a:spcPts val="0"/>
              </a:spcBef>
              <a:spcAft>
                <a:spcPts val="0"/>
              </a:spcAft>
              <a:defRPr sz="1800" b="1">
                <a:solidFill>
                  <a:srgbClr val="18323C"/>
                </a:solidFill>
                <a:latin typeface="DM Sans"/>
              </a:defRPr>
            </a:pPr>
            <a:r>
              <a:t>01  /  FORGE</a:t>
            </a:r>
          </a:p>
        </p:txBody>
      </p:sp>
      <p:sp>
        <p:nvSpPr>
          <p:cNvPr id="10" name="TextBox 9"/>
          <p:cNvSpPr txBox="1"/>
          <p:nvPr/>
        </p:nvSpPr>
        <p:spPr>
          <a:xfrm>
            <a:off x="1219200" y="5010150"/>
            <a:ext cx="3181350" cy="1285875"/>
          </a:xfrm>
          <a:prstGeom prst="rect">
            <a:avLst/>
          </a:prstGeom>
          <a:noFill/>
        </p:spPr>
        <p:txBody>
          <a:bodyPr wrap="square" anchor="t" lIns="0" rIns="0" tIns="0" bIns="0">
            <a:spAutoFit/>
          </a:bodyPr>
          <a:lstStyle/>
          <a:p>
            <a:pPr algn="l">
              <a:lnSpc>
                <a:spcPct val="114000"/>
              </a:lnSpc>
              <a:spcBef>
                <a:spcPts val="0"/>
              </a:spcBef>
              <a:spcAft>
                <a:spcPts val="0"/>
              </a:spcAft>
              <a:defRPr sz="3375" b="1">
                <a:solidFill>
                  <a:srgbClr val="18323C"/>
                </a:solidFill>
                <a:latin typeface="DM Sans"/>
              </a:defRPr>
            </a:pPr>
            <a:r>
              <a:t>Inspect the</a:t>
            </a:r>
          </a:p>
          <a:p>
            <a:pPr algn="l">
              <a:lnSpc>
                <a:spcPct val="114000"/>
              </a:lnSpc>
              <a:spcBef>
                <a:spcPts val="0"/>
              </a:spcBef>
              <a:spcAft>
                <a:spcPts val="0"/>
              </a:spcAft>
              <a:defRPr sz="3375" b="1">
                <a:solidFill>
                  <a:srgbClr val="18323C"/>
                </a:solidFill>
                <a:latin typeface="DM Sans"/>
              </a:defRPr>
            </a:pPr>
            <a:r>
              <a:t>setup</a:t>
            </a:r>
          </a:p>
        </p:txBody>
      </p:sp>
      <p:sp>
        <p:nvSpPr>
          <p:cNvPr id="11" name="TextBox 10"/>
          <p:cNvSpPr txBox="1"/>
          <p:nvPr/>
        </p:nvSpPr>
        <p:spPr>
          <a:xfrm>
            <a:off x="1219200" y="6524625"/>
            <a:ext cx="3181350" cy="857250"/>
          </a:xfrm>
          <a:prstGeom prst="rect">
            <a:avLst/>
          </a:prstGeom>
          <a:noFill/>
        </p:spPr>
        <p:txBody>
          <a:bodyPr wrap="square" anchor="t" lIns="0" rIns="0" tIns="0" bIns="0">
            <a:spAutoFit/>
          </a:bodyPr>
          <a:lstStyle/>
          <a:p>
            <a:pPr algn="l">
              <a:lnSpc>
                <a:spcPct val="114000"/>
              </a:lnSpc>
              <a:spcBef>
                <a:spcPts val="0"/>
              </a:spcBef>
              <a:spcAft>
                <a:spcPts val="0"/>
              </a:spcAft>
              <a:defRPr sz="2175" b="0">
                <a:solidFill>
                  <a:srgbClr val="536872"/>
                </a:solidFill>
                <a:latin typeface="DM Sans"/>
              </a:defRPr>
            </a:pPr>
            <a:r>
              <a:t>Is the assistant</a:t>
            </a:r>
          </a:p>
          <a:p>
            <a:pPr algn="l">
              <a:lnSpc>
                <a:spcPct val="114000"/>
              </a:lnSpc>
              <a:spcBef>
                <a:spcPts val="0"/>
              </a:spcBef>
              <a:spcAft>
                <a:spcPts val="0"/>
              </a:spcAft>
              <a:defRPr sz="2175" b="0">
                <a:solidFill>
                  <a:srgbClr val="536872"/>
                </a:solidFill>
                <a:latin typeface="DM Sans"/>
              </a:defRPr>
            </a:pPr>
            <a:r>
              <a:t>designed safely?</a:t>
            </a:r>
          </a:p>
        </p:txBody>
      </p:sp>
      <p:sp>
        <p:nvSpPr>
          <p:cNvPr id="12" name="TextBox 11"/>
          <p:cNvSpPr txBox="1"/>
          <p:nvPr/>
        </p:nvSpPr>
        <p:spPr>
          <a:xfrm>
            <a:off x="4686300" y="5238750"/>
            <a:ext cx="457200" cy="619125"/>
          </a:xfrm>
          <a:prstGeom prst="rect">
            <a:avLst/>
          </a:prstGeom>
          <a:noFill/>
        </p:spPr>
        <p:txBody>
          <a:bodyPr wrap="square" anchor="t" lIns="0" rIns="0" tIns="0" bIns="0">
            <a:spAutoFit/>
          </a:bodyPr>
          <a:lstStyle/>
          <a:p>
            <a:pPr algn="ctr">
              <a:lnSpc>
                <a:spcPct val="114000"/>
              </a:lnSpc>
              <a:spcBef>
                <a:spcPts val="0"/>
              </a:spcBef>
              <a:spcAft>
                <a:spcPts val="0"/>
              </a:spcAft>
              <a:defRPr sz="3300" b="0">
                <a:solidFill>
                  <a:srgbClr val="536872"/>
                </a:solidFill>
                <a:latin typeface="DM Sans"/>
              </a:defRPr>
            </a:pPr>
            <a:r>
              <a:t>→</a:t>
            </a:r>
          </a:p>
        </p:txBody>
      </p:sp>
      <p:sp>
        <p:nvSpPr>
          <p:cNvPr id="13" name="Rounded Rectangle 12"/>
          <p:cNvSpPr/>
          <p:nvPr/>
        </p:nvSpPr>
        <p:spPr>
          <a:xfrm>
            <a:off x="5143500" y="4000500"/>
            <a:ext cx="3714750" cy="3476625"/>
          </a:xfrm>
          <a:prstGeom prst="roundRect">
            <a:avLst>
              <a:gd name="adj" fmla="val 7000"/>
            </a:avLst>
          </a:prstGeom>
          <a:solidFill>
            <a:srgbClr val="E5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10200" y="4267200"/>
            <a:ext cx="3181350" cy="428625"/>
          </a:xfrm>
          <a:prstGeom prst="rect">
            <a:avLst/>
          </a:prstGeom>
          <a:noFill/>
        </p:spPr>
        <p:txBody>
          <a:bodyPr wrap="square" anchor="t" lIns="0" rIns="0" tIns="0" bIns="0">
            <a:spAutoFit/>
          </a:bodyPr>
          <a:lstStyle/>
          <a:p>
            <a:pPr algn="l">
              <a:lnSpc>
                <a:spcPct val="114000"/>
              </a:lnSpc>
              <a:spcBef>
                <a:spcPts val="0"/>
              </a:spcBef>
              <a:spcAft>
                <a:spcPts val="0"/>
              </a:spcAft>
              <a:defRPr sz="1800" b="1">
                <a:solidFill>
                  <a:srgbClr val="146B57"/>
                </a:solidFill>
                <a:latin typeface="DM Sans"/>
              </a:defRPr>
            </a:pPr>
            <a:r>
              <a:t>02  /  REHEARSAL</a:t>
            </a:r>
          </a:p>
        </p:txBody>
      </p:sp>
      <p:sp>
        <p:nvSpPr>
          <p:cNvPr id="15" name="TextBox 14"/>
          <p:cNvSpPr txBox="1"/>
          <p:nvPr/>
        </p:nvSpPr>
        <p:spPr>
          <a:xfrm>
            <a:off x="5410200" y="5010150"/>
            <a:ext cx="3181350" cy="1285875"/>
          </a:xfrm>
          <a:prstGeom prst="rect">
            <a:avLst/>
          </a:prstGeom>
          <a:noFill/>
        </p:spPr>
        <p:txBody>
          <a:bodyPr wrap="square" anchor="t" lIns="0" rIns="0" tIns="0" bIns="0">
            <a:spAutoFit/>
          </a:bodyPr>
          <a:lstStyle/>
          <a:p>
            <a:pPr algn="l">
              <a:lnSpc>
                <a:spcPct val="114000"/>
              </a:lnSpc>
              <a:spcBef>
                <a:spcPts val="0"/>
              </a:spcBef>
              <a:spcAft>
                <a:spcPts val="0"/>
              </a:spcAft>
              <a:defRPr sz="3375" b="1">
                <a:solidFill>
                  <a:srgbClr val="146B57"/>
                </a:solidFill>
                <a:latin typeface="DM Sans"/>
              </a:defRPr>
            </a:pPr>
            <a:r>
              <a:t>Practice under</a:t>
            </a:r>
          </a:p>
          <a:p>
            <a:pPr algn="l">
              <a:lnSpc>
                <a:spcPct val="114000"/>
              </a:lnSpc>
              <a:spcBef>
                <a:spcPts val="0"/>
              </a:spcBef>
              <a:spcAft>
                <a:spcPts val="0"/>
              </a:spcAft>
              <a:defRPr sz="3375" b="1">
                <a:solidFill>
                  <a:srgbClr val="146B57"/>
                </a:solidFill>
                <a:latin typeface="DM Sans"/>
              </a:defRPr>
            </a:pPr>
            <a:r>
              <a:t>pressure</a:t>
            </a:r>
          </a:p>
        </p:txBody>
      </p:sp>
      <p:sp>
        <p:nvSpPr>
          <p:cNvPr id="16" name="TextBox 15"/>
          <p:cNvSpPr txBox="1"/>
          <p:nvPr/>
        </p:nvSpPr>
        <p:spPr>
          <a:xfrm>
            <a:off x="5410200" y="6524625"/>
            <a:ext cx="3181350" cy="857250"/>
          </a:xfrm>
          <a:prstGeom prst="rect">
            <a:avLst/>
          </a:prstGeom>
          <a:noFill/>
        </p:spPr>
        <p:txBody>
          <a:bodyPr wrap="square" anchor="t" lIns="0" rIns="0" tIns="0" bIns="0">
            <a:spAutoFit/>
          </a:bodyPr>
          <a:lstStyle/>
          <a:p>
            <a:pPr algn="l">
              <a:lnSpc>
                <a:spcPct val="114000"/>
              </a:lnSpc>
              <a:spcBef>
                <a:spcPts val="0"/>
              </a:spcBef>
              <a:spcAft>
                <a:spcPts val="0"/>
              </a:spcAft>
              <a:defRPr sz="2175" b="0">
                <a:solidFill>
                  <a:srgbClr val="536872"/>
                </a:solidFill>
                <a:latin typeface="DM Sans"/>
              </a:defRPr>
            </a:pPr>
            <a:r>
              <a:t>What goes wrong</a:t>
            </a:r>
          </a:p>
          <a:p>
            <a:pPr algn="l">
              <a:lnSpc>
                <a:spcPct val="114000"/>
              </a:lnSpc>
              <a:spcBef>
                <a:spcPts val="0"/>
              </a:spcBef>
              <a:spcAft>
                <a:spcPts val="0"/>
              </a:spcAft>
              <a:defRPr sz="2175" b="0">
                <a:solidFill>
                  <a:srgbClr val="536872"/>
                </a:solidFill>
                <a:latin typeface="DM Sans"/>
              </a:defRPr>
            </a:pPr>
            <a:r>
              <a:t>in test situations?</a:t>
            </a:r>
          </a:p>
        </p:txBody>
      </p:sp>
      <p:sp>
        <p:nvSpPr>
          <p:cNvPr id="17" name="TextBox 16"/>
          <p:cNvSpPr txBox="1"/>
          <p:nvPr/>
        </p:nvSpPr>
        <p:spPr>
          <a:xfrm>
            <a:off x="8877300" y="5238750"/>
            <a:ext cx="457200" cy="619125"/>
          </a:xfrm>
          <a:prstGeom prst="rect">
            <a:avLst/>
          </a:prstGeom>
          <a:noFill/>
        </p:spPr>
        <p:txBody>
          <a:bodyPr wrap="square" anchor="t" lIns="0" rIns="0" tIns="0" bIns="0">
            <a:spAutoFit/>
          </a:bodyPr>
          <a:lstStyle/>
          <a:p>
            <a:pPr algn="ctr">
              <a:lnSpc>
                <a:spcPct val="114000"/>
              </a:lnSpc>
              <a:spcBef>
                <a:spcPts val="0"/>
              </a:spcBef>
              <a:spcAft>
                <a:spcPts val="0"/>
              </a:spcAft>
              <a:defRPr sz="3300" b="0">
                <a:solidFill>
                  <a:srgbClr val="536872"/>
                </a:solidFill>
                <a:latin typeface="DM Sans"/>
              </a:defRPr>
            </a:pPr>
            <a:r>
              <a:t>→</a:t>
            </a:r>
          </a:p>
        </p:txBody>
      </p:sp>
      <p:sp>
        <p:nvSpPr>
          <p:cNvPr id="18" name="Rounded Rectangle 17"/>
          <p:cNvSpPr/>
          <p:nvPr/>
        </p:nvSpPr>
        <p:spPr>
          <a:xfrm>
            <a:off x="9334500" y="4000500"/>
            <a:ext cx="3714750" cy="3476625"/>
          </a:xfrm>
          <a:prstGeom prst="roundRect">
            <a:avLst>
              <a:gd name="adj" fmla="val 7000"/>
            </a:avLst>
          </a:prstGeom>
          <a:solidFill>
            <a:srgbClr val="FBE5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0" y="4267200"/>
            <a:ext cx="3181350" cy="428625"/>
          </a:xfrm>
          <a:prstGeom prst="rect">
            <a:avLst/>
          </a:prstGeom>
          <a:noFill/>
        </p:spPr>
        <p:txBody>
          <a:bodyPr wrap="square" anchor="t" lIns="0" rIns="0" tIns="0" bIns="0">
            <a:spAutoFit/>
          </a:bodyPr>
          <a:lstStyle/>
          <a:p>
            <a:pPr algn="l">
              <a:lnSpc>
                <a:spcPct val="114000"/>
              </a:lnSpc>
              <a:spcBef>
                <a:spcPts val="0"/>
              </a:spcBef>
              <a:spcAft>
                <a:spcPts val="0"/>
              </a:spcAft>
              <a:defRPr sz="1800" b="1">
                <a:solidFill>
                  <a:srgbClr val="D94B27"/>
                </a:solidFill>
                <a:latin typeface="DM Sans"/>
              </a:defRPr>
            </a:pPr>
            <a:r>
              <a:t>03  /  SENTINEL</a:t>
            </a:r>
          </a:p>
        </p:txBody>
      </p:sp>
      <p:sp>
        <p:nvSpPr>
          <p:cNvPr id="20" name="TextBox 19"/>
          <p:cNvSpPr txBox="1"/>
          <p:nvPr/>
        </p:nvSpPr>
        <p:spPr>
          <a:xfrm>
            <a:off x="9601200" y="5010150"/>
            <a:ext cx="3181350" cy="1285875"/>
          </a:xfrm>
          <a:prstGeom prst="rect">
            <a:avLst/>
          </a:prstGeom>
          <a:noFill/>
        </p:spPr>
        <p:txBody>
          <a:bodyPr wrap="square" anchor="t" lIns="0" rIns="0" tIns="0" bIns="0">
            <a:spAutoFit/>
          </a:bodyPr>
          <a:lstStyle/>
          <a:p>
            <a:pPr algn="l">
              <a:lnSpc>
                <a:spcPct val="114000"/>
              </a:lnSpc>
              <a:spcBef>
                <a:spcPts val="0"/>
              </a:spcBef>
              <a:spcAft>
                <a:spcPts val="0"/>
              </a:spcAft>
              <a:defRPr sz="3375" b="1">
                <a:solidFill>
                  <a:srgbClr val="D94B27"/>
                </a:solidFill>
                <a:latin typeface="DM Sans"/>
              </a:defRPr>
            </a:pPr>
            <a:r>
              <a:t>Guard the</a:t>
            </a:r>
          </a:p>
          <a:p>
            <a:pPr algn="l">
              <a:lnSpc>
                <a:spcPct val="114000"/>
              </a:lnSpc>
              <a:spcBef>
                <a:spcPts val="0"/>
              </a:spcBef>
              <a:spcAft>
                <a:spcPts val="0"/>
              </a:spcAft>
              <a:defRPr sz="3375" b="1">
                <a:solidFill>
                  <a:srgbClr val="D94B27"/>
                </a:solidFill>
                <a:latin typeface="DM Sans"/>
              </a:defRPr>
            </a:pPr>
            <a:r>
              <a:t>action</a:t>
            </a:r>
          </a:p>
        </p:txBody>
      </p:sp>
      <p:sp>
        <p:nvSpPr>
          <p:cNvPr id="21" name="TextBox 20"/>
          <p:cNvSpPr txBox="1"/>
          <p:nvPr/>
        </p:nvSpPr>
        <p:spPr>
          <a:xfrm>
            <a:off x="9601200" y="6524625"/>
            <a:ext cx="3181350" cy="857250"/>
          </a:xfrm>
          <a:prstGeom prst="rect">
            <a:avLst/>
          </a:prstGeom>
          <a:noFill/>
        </p:spPr>
        <p:txBody>
          <a:bodyPr wrap="square" anchor="t" lIns="0" rIns="0" tIns="0" bIns="0">
            <a:spAutoFit/>
          </a:bodyPr>
          <a:lstStyle/>
          <a:p>
            <a:pPr algn="l">
              <a:lnSpc>
                <a:spcPct val="114000"/>
              </a:lnSpc>
              <a:spcBef>
                <a:spcPts val="0"/>
              </a:spcBef>
              <a:spcAft>
                <a:spcPts val="0"/>
              </a:spcAft>
              <a:defRPr sz="2175" b="0">
                <a:solidFill>
                  <a:srgbClr val="536872"/>
                </a:solidFill>
                <a:latin typeface="DM Sans"/>
              </a:defRPr>
            </a:pPr>
            <a:r>
              <a:t>Should this proposal</a:t>
            </a:r>
          </a:p>
          <a:p>
            <a:pPr algn="l">
              <a:lnSpc>
                <a:spcPct val="114000"/>
              </a:lnSpc>
              <a:spcBef>
                <a:spcPts val="0"/>
              </a:spcBef>
              <a:spcAft>
                <a:spcPts val="0"/>
              </a:spcAft>
              <a:defRPr sz="2175" b="0">
                <a:solidFill>
                  <a:srgbClr val="536872"/>
                </a:solidFill>
                <a:latin typeface="DM Sans"/>
              </a:defRPr>
            </a:pPr>
            <a:r>
              <a:t>continue or stop?</a:t>
            </a:r>
          </a:p>
        </p:txBody>
      </p:sp>
      <p:sp>
        <p:nvSpPr>
          <p:cNvPr id="22" name="TextBox 21"/>
          <p:cNvSpPr txBox="1"/>
          <p:nvPr/>
        </p:nvSpPr>
        <p:spPr>
          <a:xfrm>
            <a:off x="13068300" y="5238750"/>
            <a:ext cx="457200" cy="619125"/>
          </a:xfrm>
          <a:prstGeom prst="rect">
            <a:avLst/>
          </a:prstGeom>
          <a:noFill/>
        </p:spPr>
        <p:txBody>
          <a:bodyPr wrap="square" anchor="t" lIns="0" rIns="0" tIns="0" bIns="0">
            <a:spAutoFit/>
          </a:bodyPr>
          <a:lstStyle/>
          <a:p>
            <a:pPr algn="ctr">
              <a:lnSpc>
                <a:spcPct val="114000"/>
              </a:lnSpc>
              <a:spcBef>
                <a:spcPts val="0"/>
              </a:spcBef>
              <a:spcAft>
                <a:spcPts val="0"/>
              </a:spcAft>
              <a:defRPr sz="3300" b="0">
                <a:solidFill>
                  <a:srgbClr val="536872"/>
                </a:solidFill>
                <a:latin typeface="DM Sans"/>
              </a:defRPr>
            </a:pPr>
            <a:r>
              <a:t>→</a:t>
            </a:r>
          </a:p>
        </p:txBody>
      </p:sp>
      <p:sp>
        <p:nvSpPr>
          <p:cNvPr id="23" name="Rounded Rectangle 22"/>
          <p:cNvSpPr/>
          <p:nvPr/>
        </p:nvSpPr>
        <p:spPr>
          <a:xfrm>
            <a:off x="13525500" y="4000500"/>
            <a:ext cx="3714750" cy="3476625"/>
          </a:xfrm>
          <a:prstGeom prst="roundRect">
            <a:avLst>
              <a:gd name="adj" fmla="val 7000"/>
            </a:avLst>
          </a:prstGeom>
          <a:solidFill>
            <a:srgbClr val="E5E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792200" y="4267200"/>
            <a:ext cx="3181350" cy="428625"/>
          </a:xfrm>
          <a:prstGeom prst="rect">
            <a:avLst/>
          </a:prstGeom>
          <a:noFill/>
        </p:spPr>
        <p:txBody>
          <a:bodyPr wrap="square" anchor="t" lIns="0" rIns="0" tIns="0" bIns="0">
            <a:spAutoFit/>
          </a:bodyPr>
          <a:lstStyle/>
          <a:p>
            <a:pPr algn="l">
              <a:lnSpc>
                <a:spcPct val="114000"/>
              </a:lnSpc>
              <a:spcBef>
                <a:spcPts val="0"/>
              </a:spcBef>
              <a:spcAft>
                <a:spcPts val="0"/>
              </a:spcAft>
              <a:defRPr sz="1800" b="1">
                <a:solidFill>
                  <a:srgbClr val="18323C"/>
                </a:solidFill>
                <a:latin typeface="DM Sans"/>
              </a:defRPr>
            </a:pPr>
            <a:r>
              <a:t>04  /  VERIFY</a:t>
            </a:r>
          </a:p>
        </p:txBody>
      </p:sp>
      <p:sp>
        <p:nvSpPr>
          <p:cNvPr id="25" name="TextBox 24"/>
          <p:cNvSpPr txBox="1"/>
          <p:nvPr/>
        </p:nvSpPr>
        <p:spPr>
          <a:xfrm>
            <a:off x="13792200" y="5010150"/>
            <a:ext cx="3181350" cy="1285875"/>
          </a:xfrm>
          <a:prstGeom prst="rect">
            <a:avLst/>
          </a:prstGeom>
          <a:noFill/>
        </p:spPr>
        <p:txBody>
          <a:bodyPr wrap="square" anchor="t" lIns="0" rIns="0" tIns="0" bIns="0">
            <a:spAutoFit/>
          </a:bodyPr>
          <a:lstStyle/>
          <a:p>
            <a:pPr algn="l">
              <a:lnSpc>
                <a:spcPct val="114000"/>
              </a:lnSpc>
              <a:spcBef>
                <a:spcPts val="0"/>
              </a:spcBef>
              <a:spcAft>
                <a:spcPts val="0"/>
              </a:spcAft>
              <a:defRPr sz="3375" b="1">
                <a:solidFill>
                  <a:srgbClr val="18323C"/>
                </a:solidFill>
                <a:latin typeface="DM Sans"/>
              </a:defRPr>
            </a:pPr>
            <a:r>
              <a:t>Check the</a:t>
            </a:r>
          </a:p>
          <a:p>
            <a:pPr algn="l">
              <a:lnSpc>
                <a:spcPct val="114000"/>
              </a:lnSpc>
              <a:spcBef>
                <a:spcPts val="0"/>
              </a:spcBef>
              <a:spcAft>
                <a:spcPts val="0"/>
              </a:spcAft>
              <a:defRPr sz="3375" b="1">
                <a:solidFill>
                  <a:srgbClr val="18323C"/>
                </a:solidFill>
                <a:latin typeface="DM Sans"/>
              </a:defRPr>
            </a:pPr>
            <a:r>
              <a:t>record</a:t>
            </a:r>
          </a:p>
        </p:txBody>
      </p:sp>
      <p:sp>
        <p:nvSpPr>
          <p:cNvPr id="26" name="TextBox 25"/>
          <p:cNvSpPr txBox="1"/>
          <p:nvPr/>
        </p:nvSpPr>
        <p:spPr>
          <a:xfrm>
            <a:off x="13792200" y="6524625"/>
            <a:ext cx="3181350" cy="857250"/>
          </a:xfrm>
          <a:prstGeom prst="rect">
            <a:avLst/>
          </a:prstGeom>
          <a:noFill/>
        </p:spPr>
        <p:txBody>
          <a:bodyPr wrap="square" anchor="t" lIns="0" rIns="0" tIns="0" bIns="0">
            <a:spAutoFit/>
          </a:bodyPr>
          <a:lstStyle/>
          <a:p>
            <a:pPr algn="l">
              <a:lnSpc>
                <a:spcPct val="114000"/>
              </a:lnSpc>
              <a:spcBef>
                <a:spcPts val="0"/>
              </a:spcBef>
              <a:spcAft>
                <a:spcPts val="0"/>
              </a:spcAft>
              <a:defRPr sz="2175" b="0">
                <a:solidFill>
                  <a:srgbClr val="536872"/>
                </a:solidFill>
                <a:latin typeface="DM Sans"/>
              </a:defRPr>
            </a:pPr>
            <a:r>
              <a:t>Does the saved record</a:t>
            </a:r>
          </a:p>
          <a:p>
            <a:pPr algn="l">
              <a:lnSpc>
                <a:spcPct val="114000"/>
              </a:lnSpc>
              <a:spcBef>
                <a:spcPts val="0"/>
              </a:spcBef>
              <a:spcAft>
                <a:spcPts val="0"/>
              </a:spcAft>
              <a:defRPr sz="2175" b="0">
                <a:solidFill>
                  <a:srgbClr val="536872"/>
                </a:solidFill>
                <a:latin typeface="DM Sans"/>
              </a:defRPr>
            </a:pPr>
            <a:r>
              <a:t>re-check correctly?</a:t>
            </a:r>
          </a:p>
        </p:txBody>
      </p:sp>
      <p:sp>
        <p:nvSpPr>
          <p:cNvPr id="27" name="TextBox 26"/>
          <p:cNvSpPr txBox="1"/>
          <p:nvPr/>
        </p:nvSpPr>
        <p:spPr>
          <a:xfrm>
            <a:off x="952500" y="8277225"/>
            <a:ext cx="16383000" cy="666750"/>
          </a:xfrm>
          <a:prstGeom prst="rect">
            <a:avLst/>
          </a:prstGeom>
          <a:noFill/>
        </p:spPr>
        <p:txBody>
          <a:bodyPr wrap="square" anchor="t" lIns="0" rIns="0" tIns="0" bIns="0">
            <a:spAutoFit/>
          </a:bodyPr>
          <a:lstStyle/>
          <a:p>
            <a:pPr algn="l">
              <a:lnSpc>
                <a:spcPct val="114000"/>
              </a:lnSpc>
              <a:spcBef>
                <a:spcPts val="0"/>
              </a:spcBef>
              <a:spcAft>
                <a:spcPts val="0"/>
              </a:spcAft>
              <a:defRPr sz="3225" b="1">
                <a:solidFill>
                  <a:srgbClr val="18323C"/>
                </a:solidFill>
                <a:latin typeface="DM Sans"/>
              </a:defRPr>
            </a:pPr>
            <a:r>
              <a:t>Not four versions of the same check.</a:t>
            </a:r>
          </a:p>
        </p:txBody>
      </p:sp>
      <p:sp>
        <p:nvSpPr>
          <p:cNvPr id="28" name="TextBox 27"/>
          <p:cNvSpPr txBox="1"/>
          <p:nvPr/>
        </p:nvSpPr>
        <p:spPr>
          <a:xfrm>
            <a:off x="952500" y="9001125"/>
            <a:ext cx="16383000" cy="476250"/>
          </a:xfrm>
          <a:prstGeom prst="rect">
            <a:avLst/>
          </a:prstGeom>
          <a:noFill/>
        </p:spPr>
        <p:txBody>
          <a:bodyPr wrap="square" anchor="t" lIns="0" rIns="0" tIns="0" bIns="0">
            <a:spAutoFit/>
          </a:bodyPr>
          <a:lstStyle/>
          <a:p>
            <a:pPr algn="l">
              <a:lnSpc>
                <a:spcPct val="114000"/>
              </a:lnSpc>
              <a:spcBef>
                <a:spcPts val="0"/>
              </a:spcBef>
              <a:spcAft>
                <a:spcPts val="0"/>
              </a:spcAft>
              <a:defRPr sz="2175" b="0">
                <a:solidFill>
                  <a:srgbClr val="536872"/>
                </a:solidFill>
                <a:latin typeface="DM Sans"/>
              </a:defRPr>
            </a:pPr>
            <a:r>
              <a:t>One shared policy; different inputs, different decisions, different outputs.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2E8"/>
        </a:solidFill>
        <a:effectLst/>
      </p:bgPr>
    </p:bg>
    <p:spTree>
      <p:nvGrpSpPr>
        <p:cNvPr id="1" name=""/>
        <p:cNvGrpSpPr/>
        <p:nvPr/>
      </p:nvGrpSpPr>
      <p:grpSpPr/>
      <p:sp>
        <p:nvSpPr>
          <p:cNvPr id="2" name="TextBox 1"/>
          <p:cNvSpPr txBox="1"/>
          <p:nvPr/>
        </p:nvSpPr>
        <p:spPr>
          <a:xfrm>
            <a:off x="952500" y="619125"/>
            <a:ext cx="16383000" cy="381000"/>
          </a:xfrm>
          <a:prstGeom prst="rect">
            <a:avLst/>
          </a:prstGeom>
          <a:noFill/>
        </p:spPr>
        <p:txBody>
          <a:bodyPr wrap="square" anchor="t" lIns="0" rIns="0" tIns="0" bIns="0">
            <a:spAutoFit/>
          </a:bodyPr>
          <a:lstStyle/>
          <a:p>
            <a:pPr algn="l">
              <a:lnSpc>
                <a:spcPct val="114000"/>
              </a:lnSpc>
              <a:spcBef>
                <a:spcPts val="0"/>
              </a:spcBef>
              <a:spcAft>
                <a:spcPts val="0"/>
              </a:spcAft>
              <a:defRPr sz="1800" b="1">
                <a:solidFill>
                  <a:srgbClr val="146B57"/>
                </a:solidFill>
                <a:latin typeface="DM Sans"/>
              </a:defRPr>
            </a:pPr>
            <a:r>
              <a:t>BEFORE CUSTOMER USE  /  STAGES 1 &amp; 2</a:t>
            </a:r>
          </a:p>
        </p:txBody>
      </p:sp>
      <p:sp>
        <p:nvSpPr>
          <p:cNvPr id="3" name="TextBox 2"/>
          <p:cNvSpPr txBox="1"/>
          <p:nvPr/>
        </p:nvSpPr>
        <p:spPr>
          <a:xfrm>
            <a:off x="952500" y="1352550"/>
            <a:ext cx="16383000" cy="1238250"/>
          </a:xfrm>
          <a:prstGeom prst="rect">
            <a:avLst/>
          </a:prstGeom>
          <a:noFill/>
        </p:spPr>
        <p:txBody>
          <a:bodyPr wrap="square" anchor="t" lIns="0" rIns="0" tIns="0" bIns="0">
            <a:spAutoFit/>
          </a:bodyPr>
          <a:lstStyle/>
          <a:p>
            <a:pPr algn="l">
              <a:lnSpc>
                <a:spcPct val="114000"/>
              </a:lnSpc>
              <a:spcBef>
                <a:spcPts val="0"/>
              </a:spcBef>
              <a:spcAft>
                <a:spcPts val="0"/>
              </a:spcAft>
              <a:defRPr sz="6150" b="1">
                <a:solidFill>
                  <a:srgbClr val="18323C"/>
                </a:solidFill>
                <a:latin typeface="DM Sans"/>
              </a:defRPr>
            </a:pPr>
            <a:r>
              <a:t>Inspect it. Then stress-test it.</a:t>
            </a:r>
          </a:p>
        </p:txBody>
      </p:sp>
      <p:sp>
        <p:nvSpPr>
          <p:cNvPr id="4" name="TextBox 3"/>
          <p:cNvSpPr txBox="1"/>
          <p:nvPr/>
        </p:nvSpPr>
        <p:spPr>
          <a:xfrm>
            <a:off x="952500" y="2686050"/>
            <a:ext cx="16383000" cy="857250"/>
          </a:xfrm>
          <a:prstGeom prst="rect">
            <a:avLst/>
          </a:prstGeom>
          <a:noFill/>
        </p:spPr>
        <p:txBody>
          <a:bodyPr wrap="square" anchor="t" lIns="0" rIns="0" tIns="0" bIns="0">
            <a:spAutoFit/>
          </a:bodyPr>
          <a:lstStyle/>
          <a:p>
            <a:pPr algn="l">
              <a:lnSpc>
                <a:spcPct val="114000"/>
              </a:lnSpc>
              <a:spcBef>
                <a:spcPts val="0"/>
              </a:spcBef>
              <a:spcAft>
                <a:spcPts val="0"/>
              </a:spcAft>
              <a:defRPr sz="2550" b="0">
                <a:solidFill>
                  <a:srgbClr val="536872"/>
                </a:solidFill>
                <a:latin typeface="DM Sans"/>
              </a:defRPr>
            </a:pPr>
            <a:r>
              <a:t>One reads the design. The other practices difficult cases.</a:t>
            </a:r>
          </a:p>
        </p:txBody>
      </p:sp>
      <p:sp>
        <p:nvSpPr>
          <p:cNvPr id="5" name="Rectangle 4"/>
          <p:cNvSpPr/>
          <p:nvPr/>
        </p:nvSpPr>
        <p:spPr>
          <a:xfrm>
            <a:off x="952500" y="9763125"/>
            <a:ext cx="16383000" cy="19050"/>
          </a:xfrm>
          <a:prstGeom prst="rect">
            <a:avLst/>
          </a:prstGeom>
          <a:solidFill>
            <a:srgbClr val="D7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2500" y="9906000"/>
            <a:ext cx="14192250" cy="285750"/>
          </a:xfrm>
          <a:prstGeom prst="rect">
            <a:avLst/>
          </a:prstGeom>
          <a:noFill/>
        </p:spPr>
        <p:txBody>
          <a:bodyPr wrap="square" anchor="t" lIns="0" rIns="0" tIns="0" bIns="0">
            <a:spAutoFit/>
          </a:bodyPr>
          <a:lstStyle/>
          <a:p>
            <a:pPr algn="l">
              <a:lnSpc>
                <a:spcPct val="114000"/>
              </a:lnSpc>
              <a:spcBef>
                <a:spcPts val="0"/>
              </a:spcBef>
              <a:spcAft>
                <a:spcPts val="0"/>
              </a:spcAft>
              <a:defRPr sz="1500" b="0">
                <a:solidFill>
                  <a:srgbClr val="536872"/>
                </a:solidFill>
                <a:latin typeface="DM Sans"/>
              </a:defRPr>
            </a:pPr>
            <a:r>
              <a:t>SAAF CIRCUIT BREAKER  /  JET CARE EXAMPLE</a:t>
            </a:r>
          </a:p>
        </p:txBody>
      </p:sp>
      <p:sp>
        <p:nvSpPr>
          <p:cNvPr id="7" name="TextBox 6"/>
          <p:cNvSpPr txBox="1"/>
          <p:nvPr/>
        </p:nvSpPr>
        <p:spPr>
          <a:xfrm>
            <a:off x="16478249" y="9906000"/>
            <a:ext cx="857250" cy="285750"/>
          </a:xfrm>
          <a:prstGeom prst="rect">
            <a:avLst/>
          </a:prstGeom>
          <a:noFill/>
        </p:spPr>
        <p:txBody>
          <a:bodyPr wrap="square" anchor="t" lIns="0" rIns="0" tIns="0" bIns="0">
            <a:spAutoFit/>
          </a:bodyPr>
          <a:lstStyle/>
          <a:p>
            <a:pPr algn="r">
              <a:lnSpc>
                <a:spcPct val="114000"/>
              </a:lnSpc>
              <a:spcBef>
                <a:spcPts val="0"/>
              </a:spcBef>
              <a:spcAft>
                <a:spcPts val="0"/>
              </a:spcAft>
              <a:defRPr sz="1500" b="0">
                <a:solidFill>
                  <a:srgbClr val="536872"/>
                </a:solidFill>
                <a:latin typeface="DM Sans"/>
              </a:defRPr>
            </a:pPr>
            <a:r>
              <a:t>3 / 5</a:t>
            </a:r>
          </a:p>
        </p:txBody>
      </p:sp>
      <p:sp>
        <p:nvSpPr>
          <p:cNvPr id="8" name="Rounded Rectangle 7"/>
          <p:cNvSpPr/>
          <p:nvPr/>
        </p:nvSpPr>
        <p:spPr>
          <a:xfrm>
            <a:off x="952500" y="3752850"/>
            <a:ext cx="7810499" cy="512445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95400" y="4019549"/>
            <a:ext cx="7124700" cy="457200"/>
          </a:xfrm>
          <a:prstGeom prst="rect">
            <a:avLst/>
          </a:prstGeom>
          <a:noFill/>
        </p:spPr>
        <p:txBody>
          <a:bodyPr wrap="square" anchor="t" lIns="0" rIns="0" tIns="0" bIns="0">
            <a:spAutoFit/>
          </a:bodyPr>
          <a:lstStyle/>
          <a:p>
            <a:pPr algn="l">
              <a:lnSpc>
                <a:spcPct val="114000"/>
              </a:lnSpc>
              <a:spcBef>
                <a:spcPts val="0"/>
              </a:spcBef>
              <a:spcAft>
                <a:spcPts val="0"/>
              </a:spcAft>
              <a:defRPr sz="2025" b="1">
                <a:solidFill>
                  <a:srgbClr val="18323C"/>
                </a:solidFill>
                <a:latin typeface="DM Sans"/>
              </a:defRPr>
            </a:pPr>
            <a:r>
              <a:t>01 / FORGE · THE INSPECTOR</a:t>
            </a:r>
          </a:p>
        </p:txBody>
      </p:sp>
      <p:sp>
        <p:nvSpPr>
          <p:cNvPr id="10" name="TextBox 9"/>
          <p:cNvSpPr txBox="1"/>
          <p:nvPr/>
        </p:nvSpPr>
        <p:spPr>
          <a:xfrm>
            <a:off x="1295400" y="4800600"/>
            <a:ext cx="7124700" cy="333375"/>
          </a:xfrm>
          <a:prstGeom prst="rect">
            <a:avLst/>
          </a:prstGeom>
          <a:noFill/>
        </p:spPr>
        <p:txBody>
          <a:bodyPr wrap="square" anchor="t" lIns="0" rIns="0" tIns="0" bIns="0">
            <a:spAutoFit/>
          </a:bodyPr>
          <a:lstStyle/>
          <a:p>
            <a:pPr algn="l">
              <a:lnSpc>
                <a:spcPct val="114000"/>
              </a:lnSpc>
              <a:spcBef>
                <a:spcPts val="0"/>
              </a:spcBef>
              <a:spcAft>
                <a:spcPts val="0"/>
              </a:spcAft>
              <a:defRPr sz="1650" b="1">
                <a:solidFill>
                  <a:srgbClr val="536872"/>
                </a:solidFill>
                <a:latin typeface="DM Sans"/>
              </a:defRPr>
            </a:pPr>
            <a:r>
              <a:t>INPUT</a:t>
            </a:r>
          </a:p>
        </p:txBody>
      </p:sp>
      <p:sp>
        <p:nvSpPr>
          <p:cNvPr id="11" name="TextBox 10"/>
          <p:cNvSpPr txBox="1"/>
          <p:nvPr/>
        </p:nvSpPr>
        <p:spPr>
          <a:xfrm>
            <a:off x="1295400" y="5200650"/>
            <a:ext cx="7124700" cy="1066800"/>
          </a:xfrm>
          <a:prstGeom prst="rect">
            <a:avLst/>
          </a:prstGeom>
          <a:noFill/>
        </p:spPr>
        <p:txBody>
          <a:bodyPr wrap="square" anchor="t" lIns="0" rIns="0" tIns="0" bIns="0">
            <a:spAutoFit/>
          </a:bodyPr>
          <a:lstStyle/>
          <a:p>
            <a:pPr algn="l">
              <a:lnSpc>
                <a:spcPct val="114000"/>
              </a:lnSpc>
              <a:spcBef>
                <a:spcPts val="0"/>
              </a:spcBef>
              <a:spcAft>
                <a:spcPts val="0"/>
              </a:spcAft>
              <a:defRPr sz="2625" b="0">
                <a:solidFill>
                  <a:srgbClr val="18323C"/>
                </a:solidFill>
                <a:latin typeface="DM Sans"/>
              </a:defRPr>
            </a:pPr>
            <a:r>
              <a:t>Agent program + official refund rules.</a:t>
            </a:r>
          </a:p>
        </p:txBody>
      </p:sp>
      <p:sp>
        <p:nvSpPr>
          <p:cNvPr id="12" name="TextBox 11"/>
          <p:cNvSpPr txBox="1"/>
          <p:nvPr/>
        </p:nvSpPr>
        <p:spPr>
          <a:xfrm>
            <a:off x="1295400" y="6086475"/>
            <a:ext cx="7124700" cy="333375"/>
          </a:xfrm>
          <a:prstGeom prst="rect">
            <a:avLst/>
          </a:prstGeom>
          <a:noFill/>
        </p:spPr>
        <p:txBody>
          <a:bodyPr wrap="square" anchor="t" lIns="0" rIns="0" tIns="0" bIns="0">
            <a:spAutoFit/>
          </a:bodyPr>
          <a:lstStyle/>
          <a:p>
            <a:pPr algn="l">
              <a:lnSpc>
                <a:spcPct val="114000"/>
              </a:lnSpc>
              <a:spcBef>
                <a:spcPts val="0"/>
              </a:spcBef>
              <a:spcAft>
                <a:spcPts val="0"/>
              </a:spcAft>
              <a:defRPr sz="1650" b="1">
                <a:solidFill>
                  <a:srgbClr val="536872"/>
                </a:solidFill>
                <a:latin typeface="DM Sans"/>
              </a:defRPr>
            </a:pPr>
            <a:r>
              <a:t>WHAT IT DOES</a:t>
            </a:r>
          </a:p>
        </p:txBody>
      </p:sp>
      <p:sp>
        <p:nvSpPr>
          <p:cNvPr id="13" name="TextBox 12"/>
          <p:cNvSpPr txBox="1"/>
          <p:nvPr/>
        </p:nvSpPr>
        <p:spPr>
          <a:xfrm>
            <a:off x="1295400" y="6486525"/>
            <a:ext cx="7124700" cy="1066800"/>
          </a:xfrm>
          <a:prstGeom prst="rect">
            <a:avLst/>
          </a:prstGeom>
          <a:noFill/>
        </p:spPr>
        <p:txBody>
          <a:bodyPr wrap="square" anchor="t" lIns="0" rIns="0" tIns="0" bIns="0">
            <a:spAutoFit/>
          </a:bodyPr>
          <a:lstStyle/>
          <a:p>
            <a:pPr algn="l">
              <a:lnSpc>
                <a:spcPct val="114000"/>
              </a:lnSpc>
              <a:spcBef>
                <a:spcPts val="0"/>
              </a:spcBef>
              <a:spcAft>
                <a:spcPts val="0"/>
              </a:spcAft>
              <a:defRPr sz="2475" b="0">
                <a:solidFill>
                  <a:srgbClr val="18323C"/>
                </a:solidFill>
                <a:latin typeface="DM Sans"/>
              </a:defRPr>
            </a:pPr>
            <a:r>
              <a:t>Finds risky choices:</a:t>
            </a:r>
          </a:p>
          <a:p>
            <a:pPr algn="l">
              <a:lnSpc>
                <a:spcPct val="114000"/>
              </a:lnSpc>
              <a:spcBef>
                <a:spcPts val="0"/>
              </a:spcBef>
              <a:spcAft>
                <a:spcPts val="0"/>
              </a:spcAft>
              <a:defRPr sz="2475" b="0">
                <a:solidFill>
                  <a:srgbClr val="18323C"/>
                </a:solidFill>
                <a:latin typeface="DM Sans"/>
              </a:defRPr>
            </a:pPr>
            <a:r>
              <a:t>changing its rules, chasing ratings.</a:t>
            </a:r>
          </a:p>
        </p:txBody>
      </p:sp>
      <p:sp>
        <p:nvSpPr>
          <p:cNvPr id="14" name="TextBox 13"/>
          <p:cNvSpPr txBox="1"/>
          <p:nvPr/>
        </p:nvSpPr>
        <p:spPr>
          <a:xfrm>
            <a:off x="1295400" y="7639049"/>
            <a:ext cx="7124700" cy="333375"/>
          </a:xfrm>
          <a:prstGeom prst="rect">
            <a:avLst/>
          </a:prstGeom>
          <a:noFill/>
        </p:spPr>
        <p:txBody>
          <a:bodyPr wrap="square" anchor="t" lIns="0" rIns="0" tIns="0" bIns="0">
            <a:spAutoFit/>
          </a:bodyPr>
          <a:lstStyle/>
          <a:p>
            <a:pPr algn="l">
              <a:lnSpc>
                <a:spcPct val="114000"/>
              </a:lnSpc>
              <a:spcBef>
                <a:spcPts val="0"/>
              </a:spcBef>
              <a:spcAft>
                <a:spcPts val="0"/>
              </a:spcAft>
              <a:defRPr sz="1650" b="1">
                <a:solidFill>
                  <a:srgbClr val="536872"/>
                </a:solidFill>
                <a:latin typeface="DM Sans"/>
              </a:defRPr>
            </a:pPr>
            <a:r>
              <a:t>OUTPUT</a:t>
            </a:r>
          </a:p>
        </p:txBody>
      </p:sp>
      <p:sp>
        <p:nvSpPr>
          <p:cNvPr id="15" name="TextBox 14"/>
          <p:cNvSpPr txBox="1"/>
          <p:nvPr/>
        </p:nvSpPr>
        <p:spPr>
          <a:xfrm>
            <a:off x="1295400" y="8039099"/>
            <a:ext cx="7124700" cy="1066800"/>
          </a:xfrm>
          <a:prstGeom prst="rect">
            <a:avLst/>
          </a:prstGeom>
          <a:noFill/>
        </p:spPr>
        <p:txBody>
          <a:bodyPr wrap="square" anchor="t" lIns="0" rIns="0" tIns="0" bIns="0">
            <a:spAutoFit/>
          </a:bodyPr>
          <a:lstStyle/>
          <a:p>
            <a:pPr algn="l">
              <a:lnSpc>
                <a:spcPct val="114000"/>
              </a:lnSpc>
              <a:spcBef>
                <a:spcPts val="0"/>
              </a:spcBef>
              <a:spcAft>
                <a:spcPts val="0"/>
              </a:spcAft>
              <a:defRPr sz="2625" b="1">
                <a:solidFill>
                  <a:srgbClr val="18323C"/>
                </a:solidFill>
                <a:latin typeface="DM Sans"/>
              </a:defRPr>
            </a:pPr>
            <a:r>
              <a:t>Risk list + rule files.</a:t>
            </a:r>
          </a:p>
        </p:txBody>
      </p:sp>
      <p:sp>
        <p:nvSpPr>
          <p:cNvPr id="16" name="Rounded Rectangle 15"/>
          <p:cNvSpPr/>
          <p:nvPr/>
        </p:nvSpPr>
        <p:spPr>
          <a:xfrm>
            <a:off x="9525000" y="3752850"/>
            <a:ext cx="7810499" cy="5124450"/>
          </a:xfrm>
          <a:prstGeom prst="roundRect">
            <a:avLst>
              <a:gd name="adj" fmla="val 7000"/>
            </a:avLst>
          </a:prstGeom>
          <a:solidFill>
            <a:srgbClr val="E5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67900" y="4019549"/>
            <a:ext cx="7124700" cy="457200"/>
          </a:xfrm>
          <a:prstGeom prst="rect">
            <a:avLst/>
          </a:prstGeom>
          <a:noFill/>
        </p:spPr>
        <p:txBody>
          <a:bodyPr wrap="square" anchor="t" lIns="0" rIns="0" tIns="0" bIns="0">
            <a:spAutoFit/>
          </a:bodyPr>
          <a:lstStyle/>
          <a:p>
            <a:pPr algn="l">
              <a:lnSpc>
                <a:spcPct val="114000"/>
              </a:lnSpc>
              <a:spcBef>
                <a:spcPts val="0"/>
              </a:spcBef>
              <a:spcAft>
                <a:spcPts val="0"/>
              </a:spcAft>
              <a:defRPr sz="2025" b="1">
                <a:solidFill>
                  <a:srgbClr val="146B57"/>
                </a:solidFill>
                <a:latin typeface="DM Sans"/>
              </a:defRPr>
            </a:pPr>
            <a:r>
              <a:t>02 / REHEARSAL · THE PRACTICE ROOM</a:t>
            </a:r>
          </a:p>
        </p:txBody>
      </p:sp>
      <p:sp>
        <p:nvSpPr>
          <p:cNvPr id="18" name="TextBox 17"/>
          <p:cNvSpPr txBox="1"/>
          <p:nvPr/>
        </p:nvSpPr>
        <p:spPr>
          <a:xfrm>
            <a:off x="9867900" y="4800600"/>
            <a:ext cx="7124700" cy="333375"/>
          </a:xfrm>
          <a:prstGeom prst="rect">
            <a:avLst/>
          </a:prstGeom>
          <a:noFill/>
        </p:spPr>
        <p:txBody>
          <a:bodyPr wrap="square" anchor="t" lIns="0" rIns="0" tIns="0" bIns="0">
            <a:spAutoFit/>
          </a:bodyPr>
          <a:lstStyle/>
          <a:p>
            <a:pPr algn="l">
              <a:lnSpc>
                <a:spcPct val="114000"/>
              </a:lnSpc>
              <a:spcBef>
                <a:spcPts val="0"/>
              </a:spcBef>
              <a:spcAft>
                <a:spcPts val="0"/>
              </a:spcAft>
              <a:defRPr sz="1650" b="1">
                <a:solidFill>
                  <a:srgbClr val="536872"/>
                </a:solidFill>
                <a:latin typeface="DM Sans"/>
              </a:defRPr>
            </a:pPr>
            <a:r>
              <a:t>INPUT</a:t>
            </a:r>
          </a:p>
        </p:txBody>
      </p:sp>
      <p:sp>
        <p:nvSpPr>
          <p:cNvPr id="19" name="TextBox 18"/>
          <p:cNvSpPr txBox="1"/>
          <p:nvPr/>
        </p:nvSpPr>
        <p:spPr>
          <a:xfrm>
            <a:off x="9867900" y="5200650"/>
            <a:ext cx="7124700" cy="1066800"/>
          </a:xfrm>
          <a:prstGeom prst="rect">
            <a:avLst/>
          </a:prstGeom>
          <a:noFill/>
        </p:spPr>
        <p:txBody>
          <a:bodyPr wrap="square" anchor="t" lIns="0" rIns="0" tIns="0" bIns="0">
            <a:spAutoFit/>
          </a:bodyPr>
          <a:lstStyle/>
          <a:p>
            <a:pPr algn="l">
              <a:lnSpc>
                <a:spcPct val="114000"/>
              </a:lnSpc>
              <a:spcBef>
                <a:spcPts val="0"/>
              </a:spcBef>
              <a:spcAft>
                <a:spcPts val="0"/>
              </a:spcAft>
              <a:defRPr sz="2625" b="0">
                <a:solidFill>
                  <a:srgbClr val="146B57"/>
                </a:solidFill>
                <a:latin typeface="DM Sans"/>
              </a:defRPr>
            </a:pPr>
            <a:r>
              <a:t>Rules + 36 test tickets.</a:t>
            </a:r>
          </a:p>
        </p:txBody>
      </p:sp>
      <p:sp>
        <p:nvSpPr>
          <p:cNvPr id="20" name="TextBox 19"/>
          <p:cNvSpPr txBox="1"/>
          <p:nvPr/>
        </p:nvSpPr>
        <p:spPr>
          <a:xfrm>
            <a:off x="9867900" y="6086475"/>
            <a:ext cx="7124700" cy="333375"/>
          </a:xfrm>
          <a:prstGeom prst="rect">
            <a:avLst/>
          </a:prstGeom>
          <a:noFill/>
        </p:spPr>
        <p:txBody>
          <a:bodyPr wrap="square" anchor="t" lIns="0" rIns="0" tIns="0" bIns="0">
            <a:spAutoFit/>
          </a:bodyPr>
          <a:lstStyle/>
          <a:p>
            <a:pPr algn="l">
              <a:lnSpc>
                <a:spcPct val="114000"/>
              </a:lnSpc>
              <a:spcBef>
                <a:spcPts val="0"/>
              </a:spcBef>
              <a:spcAft>
                <a:spcPts val="0"/>
              </a:spcAft>
              <a:defRPr sz="1650" b="1">
                <a:solidFill>
                  <a:srgbClr val="536872"/>
                </a:solidFill>
                <a:latin typeface="DM Sans"/>
              </a:defRPr>
            </a:pPr>
            <a:r>
              <a:t>WHAT IT DOES</a:t>
            </a:r>
          </a:p>
        </p:txBody>
      </p:sp>
      <p:sp>
        <p:nvSpPr>
          <p:cNvPr id="21" name="TextBox 20"/>
          <p:cNvSpPr txBox="1"/>
          <p:nvPr/>
        </p:nvSpPr>
        <p:spPr>
          <a:xfrm>
            <a:off x="9867900" y="6486525"/>
            <a:ext cx="7124700" cy="1066800"/>
          </a:xfrm>
          <a:prstGeom prst="rect">
            <a:avLst/>
          </a:prstGeom>
          <a:noFill/>
        </p:spPr>
        <p:txBody>
          <a:bodyPr wrap="square" anchor="t" lIns="0" rIns="0" tIns="0" bIns="0">
            <a:spAutoFit/>
          </a:bodyPr>
          <a:lstStyle/>
          <a:p>
            <a:pPr algn="l">
              <a:lnSpc>
                <a:spcPct val="114000"/>
              </a:lnSpc>
              <a:spcBef>
                <a:spcPts val="0"/>
              </a:spcBef>
              <a:spcAft>
                <a:spcPts val="0"/>
              </a:spcAft>
              <a:defRPr sz="2475" b="0">
                <a:solidFill>
                  <a:srgbClr val="146B57"/>
                </a:solidFill>
                <a:latin typeface="DM Sans"/>
              </a:defRPr>
            </a:pPr>
            <a:r>
              <a:t>Runs a scripted pressure scenario:</a:t>
            </a:r>
          </a:p>
          <a:p>
            <a:pPr algn="l">
              <a:lnSpc>
                <a:spcPct val="114000"/>
              </a:lnSpc>
              <a:spcBef>
                <a:spcPts val="0"/>
              </a:spcBef>
              <a:spcAft>
                <a:spcPts val="0"/>
              </a:spcAft>
              <a:defRPr sz="2475" b="0">
                <a:solidFill>
                  <a:srgbClr val="146B57"/>
                </a:solidFill>
                <a:latin typeface="DM Sans"/>
              </a:defRPr>
            </a:pPr>
            <a:r>
              <a:t>what if “good ratings” win?</a:t>
            </a:r>
          </a:p>
        </p:txBody>
      </p:sp>
      <p:sp>
        <p:nvSpPr>
          <p:cNvPr id="22" name="TextBox 21"/>
          <p:cNvSpPr txBox="1"/>
          <p:nvPr/>
        </p:nvSpPr>
        <p:spPr>
          <a:xfrm>
            <a:off x="9867900" y="7639049"/>
            <a:ext cx="7124700" cy="333375"/>
          </a:xfrm>
          <a:prstGeom prst="rect">
            <a:avLst/>
          </a:prstGeom>
          <a:noFill/>
        </p:spPr>
        <p:txBody>
          <a:bodyPr wrap="square" anchor="t" lIns="0" rIns="0" tIns="0" bIns="0">
            <a:spAutoFit/>
          </a:bodyPr>
          <a:lstStyle/>
          <a:p>
            <a:pPr algn="l">
              <a:lnSpc>
                <a:spcPct val="114000"/>
              </a:lnSpc>
              <a:spcBef>
                <a:spcPts val="0"/>
              </a:spcBef>
              <a:spcAft>
                <a:spcPts val="0"/>
              </a:spcAft>
              <a:defRPr sz="1650" b="1">
                <a:solidFill>
                  <a:srgbClr val="536872"/>
                </a:solidFill>
                <a:latin typeface="DM Sans"/>
              </a:defRPr>
            </a:pPr>
            <a:r>
              <a:t>OUTPUT</a:t>
            </a:r>
          </a:p>
        </p:txBody>
      </p:sp>
      <p:sp>
        <p:nvSpPr>
          <p:cNvPr id="23" name="TextBox 22"/>
          <p:cNvSpPr txBox="1"/>
          <p:nvPr/>
        </p:nvSpPr>
        <p:spPr>
          <a:xfrm>
            <a:off x="9867900" y="8039099"/>
            <a:ext cx="7124700" cy="1066800"/>
          </a:xfrm>
          <a:prstGeom prst="rect">
            <a:avLst/>
          </a:prstGeom>
          <a:noFill/>
        </p:spPr>
        <p:txBody>
          <a:bodyPr wrap="square" anchor="t" lIns="0" rIns="0" tIns="0" bIns="0">
            <a:spAutoFit/>
          </a:bodyPr>
          <a:lstStyle/>
          <a:p>
            <a:pPr algn="l">
              <a:lnSpc>
                <a:spcPct val="114000"/>
              </a:lnSpc>
              <a:spcBef>
                <a:spcPts val="0"/>
              </a:spcBef>
              <a:spcAft>
                <a:spcPts val="0"/>
              </a:spcAft>
              <a:defRPr sz="2625" b="1">
                <a:solidFill>
                  <a:srgbClr val="146B57"/>
                </a:solidFill>
                <a:latin typeface="DM Sans"/>
              </a:defRPr>
            </a:pPr>
            <a:r>
              <a:t>Simulated losses + recorded decisions.</a:t>
            </a:r>
          </a:p>
        </p:txBody>
      </p:sp>
      <p:sp>
        <p:nvSpPr>
          <p:cNvPr id="24" name="TextBox 23"/>
          <p:cNvSpPr txBox="1"/>
          <p:nvPr/>
        </p:nvSpPr>
        <p:spPr>
          <a:xfrm>
            <a:off x="952500" y="9144000"/>
            <a:ext cx="16383000" cy="457200"/>
          </a:xfrm>
          <a:prstGeom prst="rect">
            <a:avLst/>
          </a:prstGeom>
          <a:noFill/>
        </p:spPr>
        <p:txBody>
          <a:bodyPr wrap="square" anchor="t" lIns="0" rIns="0" tIns="0" bIns="0">
            <a:spAutoFit/>
          </a:bodyPr>
          <a:lstStyle/>
          <a:p>
            <a:pPr algn="l">
              <a:lnSpc>
                <a:spcPct val="114000"/>
              </a:lnSpc>
              <a:spcBef>
                <a:spcPts val="0"/>
              </a:spcBef>
              <a:spcAft>
                <a:spcPts val="0"/>
              </a:spcAft>
              <a:defRPr sz="2175" b="0">
                <a:solidFill>
                  <a:srgbClr val="536872"/>
                </a:solidFill>
                <a:latin typeface="DM Sans"/>
              </a:defRPr>
            </a:pPr>
            <a:r>
              <a:t>Rehearsal is a safe practice room—not a real refund run.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2E8"/>
        </a:solidFill>
        <a:effectLst/>
      </p:bgPr>
    </p:bg>
    <p:spTree>
      <p:nvGrpSpPr>
        <p:cNvPr id="1" name=""/>
        <p:cNvGrpSpPr/>
        <p:nvPr/>
      </p:nvGrpSpPr>
      <p:grpSpPr/>
      <p:sp>
        <p:nvSpPr>
          <p:cNvPr id="2" name="TextBox 1"/>
          <p:cNvSpPr txBox="1"/>
          <p:nvPr/>
        </p:nvSpPr>
        <p:spPr>
          <a:xfrm>
            <a:off x="952500" y="619125"/>
            <a:ext cx="16383000" cy="381000"/>
          </a:xfrm>
          <a:prstGeom prst="rect">
            <a:avLst/>
          </a:prstGeom>
          <a:noFill/>
        </p:spPr>
        <p:txBody>
          <a:bodyPr wrap="square" anchor="t" lIns="0" rIns="0" tIns="0" bIns="0">
            <a:spAutoFit/>
          </a:bodyPr>
          <a:lstStyle/>
          <a:p>
            <a:pPr algn="l">
              <a:lnSpc>
                <a:spcPct val="114000"/>
              </a:lnSpc>
              <a:spcBef>
                <a:spcPts val="0"/>
              </a:spcBef>
              <a:spcAft>
                <a:spcPts val="0"/>
              </a:spcAft>
              <a:defRPr sz="1800" b="1">
                <a:solidFill>
                  <a:srgbClr val="146B57"/>
                </a:solidFill>
                <a:latin typeface="DM Sans"/>
              </a:defRPr>
            </a:pPr>
            <a:r>
              <a:t>DURING A PROPOSED ACTION  /  STAGE 3: SENTINEL</a:t>
            </a:r>
          </a:p>
        </p:txBody>
      </p:sp>
      <p:sp>
        <p:nvSpPr>
          <p:cNvPr id="3" name="TextBox 2"/>
          <p:cNvSpPr txBox="1"/>
          <p:nvPr/>
        </p:nvSpPr>
        <p:spPr>
          <a:xfrm>
            <a:off x="952500" y="1352550"/>
            <a:ext cx="16383000" cy="1238250"/>
          </a:xfrm>
          <a:prstGeom prst="rect">
            <a:avLst/>
          </a:prstGeom>
          <a:noFill/>
        </p:spPr>
        <p:txBody>
          <a:bodyPr wrap="square" anchor="t" lIns="0" rIns="0" tIns="0" bIns="0">
            <a:spAutoFit/>
          </a:bodyPr>
          <a:lstStyle/>
          <a:p>
            <a:pPr algn="l">
              <a:lnSpc>
                <a:spcPct val="114000"/>
              </a:lnSpc>
              <a:spcBef>
                <a:spcPts val="0"/>
              </a:spcBef>
              <a:spcAft>
                <a:spcPts val="0"/>
              </a:spcAft>
              <a:defRPr sz="6150" b="1">
                <a:solidFill>
                  <a:srgbClr val="18323C"/>
                </a:solidFill>
                <a:latin typeface="DM Sans"/>
              </a:defRPr>
            </a:pPr>
            <a:r>
              <a:t>Stop the action. Restore safe rules.</a:t>
            </a:r>
          </a:p>
        </p:txBody>
      </p:sp>
      <p:sp>
        <p:nvSpPr>
          <p:cNvPr id="4" name="TextBox 3"/>
          <p:cNvSpPr txBox="1"/>
          <p:nvPr/>
        </p:nvSpPr>
        <p:spPr>
          <a:xfrm>
            <a:off x="952500" y="2686050"/>
            <a:ext cx="16383000" cy="857250"/>
          </a:xfrm>
          <a:prstGeom prst="rect">
            <a:avLst/>
          </a:prstGeom>
          <a:noFill/>
        </p:spPr>
        <p:txBody>
          <a:bodyPr wrap="square" anchor="t" lIns="0" rIns="0" tIns="0" bIns="0">
            <a:spAutoFit/>
          </a:bodyPr>
          <a:lstStyle/>
          <a:p>
            <a:pPr algn="l">
              <a:lnSpc>
                <a:spcPct val="114000"/>
              </a:lnSpc>
              <a:spcBef>
                <a:spcPts val="0"/>
              </a:spcBef>
              <a:spcAft>
                <a:spcPts val="0"/>
              </a:spcAft>
              <a:defRPr sz="2550" b="0">
                <a:solidFill>
                  <a:srgbClr val="536872"/>
                </a:solidFill>
                <a:latin typeface="DM Sans"/>
              </a:defRPr>
            </a:pPr>
            <a:r>
              <a:t>Input: refund request + current instructions + saved lessons</a:t>
            </a:r>
          </a:p>
        </p:txBody>
      </p:sp>
      <p:sp>
        <p:nvSpPr>
          <p:cNvPr id="5" name="Rectangle 4"/>
          <p:cNvSpPr/>
          <p:nvPr/>
        </p:nvSpPr>
        <p:spPr>
          <a:xfrm>
            <a:off x="952500" y="9763125"/>
            <a:ext cx="16383000" cy="19050"/>
          </a:xfrm>
          <a:prstGeom prst="rect">
            <a:avLst/>
          </a:prstGeom>
          <a:solidFill>
            <a:srgbClr val="D7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2500" y="9906000"/>
            <a:ext cx="14192250" cy="285750"/>
          </a:xfrm>
          <a:prstGeom prst="rect">
            <a:avLst/>
          </a:prstGeom>
          <a:noFill/>
        </p:spPr>
        <p:txBody>
          <a:bodyPr wrap="square" anchor="t" lIns="0" rIns="0" tIns="0" bIns="0">
            <a:spAutoFit/>
          </a:bodyPr>
          <a:lstStyle/>
          <a:p>
            <a:pPr algn="l">
              <a:lnSpc>
                <a:spcPct val="114000"/>
              </a:lnSpc>
              <a:spcBef>
                <a:spcPts val="0"/>
              </a:spcBef>
              <a:spcAft>
                <a:spcPts val="0"/>
              </a:spcAft>
              <a:defRPr sz="1500" b="0">
                <a:solidFill>
                  <a:srgbClr val="536872"/>
                </a:solidFill>
                <a:latin typeface="DM Sans"/>
              </a:defRPr>
            </a:pPr>
            <a:r>
              <a:t>SAAF CIRCUIT BREAKER  /  JET CARE EXAMPLE</a:t>
            </a:r>
          </a:p>
        </p:txBody>
      </p:sp>
      <p:sp>
        <p:nvSpPr>
          <p:cNvPr id="7" name="TextBox 6"/>
          <p:cNvSpPr txBox="1"/>
          <p:nvPr/>
        </p:nvSpPr>
        <p:spPr>
          <a:xfrm>
            <a:off x="16478249" y="9906000"/>
            <a:ext cx="857250" cy="285750"/>
          </a:xfrm>
          <a:prstGeom prst="rect">
            <a:avLst/>
          </a:prstGeom>
          <a:noFill/>
        </p:spPr>
        <p:txBody>
          <a:bodyPr wrap="square" anchor="t" lIns="0" rIns="0" tIns="0" bIns="0">
            <a:spAutoFit/>
          </a:bodyPr>
          <a:lstStyle/>
          <a:p>
            <a:pPr algn="r">
              <a:lnSpc>
                <a:spcPct val="114000"/>
              </a:lnSpc>
              <a:spcBef>
                <a:spcPts val="0"/>
              </a:spcBef>
              <a:spcAft>
                <a:spcPts val="0"/>
              </a:spcAft>
              <a:defRPr sz="1500" b="0">
                <a:solidFill>
                  <a:srgbClr val="536872"/>
                </a:solidFill>
                <a:latin typeface="DM Sans"/>
              </a:defRPr>
            </a:pPr>
            <a:r>
              <a:t>4 / 5</a:t>
            </a:r>
          </a:p>
        </p:txBody>
      </p:sp>
      <p:sp>
        <p:nvSpPr>
          <p:cNvPr id="8" name="Rounded Rectangle 7"/>
          <p:cNvSpPr/>
          <p:nvPr/>
        </p:nvSpPr>
        <p:spPr>
          <a:xfrm>
            <a:off x="952500" y="4019549"/>
            <a:ext cx="5048250" cy="2571750"/>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8250" y="4352925"/>
            <a:ext cx="4476750" cy="428625"/>
          </a:xfrm>
          <a:prstGeom prst="rect">
            <a:avLst/>
          </a:prstGeom>
          <a:noFill/>
        </p:spPr>
        <p:txBody>
          <a:bodyPr wrap="square" anchor="t" lIns="0" rIns="0" tIns="0" bIns="0">
            <a:spAutoFit/>
          </a:bodyPr>
          <a:lstStyle/>
          <a:p>
            <a:pPr algn="l">
              <a:lnSpc>
                <a:spcPct val="114000"/>
              </a:lnSpc>
              <a:spcBef>
                <a:spcPts val="0"/>
              </a:spcBef>
              <a:spcAft>
                <a:spcPts val="0"/>
              </a:spcAft>
              <a:defRPr sz="1725" b="1">
                <a:solidFill>
                  <a:srgbClr val="18323C"/>
                </a:solidFill>
                <a:latin typeface="DM Sans"/>
              </a:defRPr>
            </a:pPr>
            <a:r>
              <a:t>CHECK THE ACTION</a:t>
            </a:r>
          </a:p>
        </p:txBody>
      </p:sp>
      <p:sp>
        <p:nvSpPr>
          <p:cNvPr id="10" name="TextBox 9"/>
          <p:cNvSpPr txBox="1"/>
          <p:nvPr/>
        </p:nvSpPr>
        <p:spPr>
          <a:xfrm>
            <a:off x="1238250" y="5019675"/>
            <a:ext cx="4476750" cy="1476375"/>
          </a:xfrm>
          <a:prstGeom prst="rect">
            <a:avLst/>
          </a:prstGeom>
          <a:noFill/>
        </p:spPr>
        <p:txBody>
          <a:bodyPr wrap="square" anchor="t" lIns="0" rIns="0" tIns="0" bIns="0">
            <a:spAutoFit/>
          </a:bodyPr>
          <a:lstStyle/>
          <a:p>
            <a:pPr algn="l">
              <a:lnSpc>
                <a:spcPct val="114000"/>
              </a:lnSpc>
              <a:spcBef>
                <a:spcPts val="0"/>
              </a:spcBef>
              <a:spcAft>
                <a:spcPts val="0"/>
              </a:spcAft>
              <a:defRPr sz="2625" b="1">
                <a:solidFill>
                  <a:srgbClr val="18323C"/>
                </a:solidFill>
                <a:latin typeface="DM Sans"/>
              </a:defRPr>
            </a:pPr>
            <a:r>
              <a:t>Within €20?</a:t>
            </a:r>
          </a:p>
          <a:p>
            <a:pPr algn="l">
              <a:lnSpc>
                <a:spcPct val="114000"/>
              </a:lnSpc>
              <a:spcBef>
                <a:spcPts val="0"/>
              </a:spcBef>
              <a:spcAft>
                <a:spcPts val="0"/>
              </a:spcAft>
              <a:defRPr sz="2625" b="1">
                <a:solidFill>
                  <a:srgbClr val="18323C"/>
                </a:solidFill>
                <a:latin typeface="DM Sans"/>
              </a:defRPr>
            </a:pPr>
            <a:r>
              <a:t>Within order value?</a:t>
            </a:r>
          </a:p>
          <a:p>
            <a:pPr algn="l">
              <a:lnSpc>
                <a:spcPct val="114000"/>
              </a:lnSpc>
              <a:spcBef>
                <a:spcPts val="0"/>
              </a:spcBef>
              <a:spcAft>
                <a:spcPts val="0"/>
              </a:spcAft>
              <a:defRPr sz="2625" b="1">
                <a:solidFill>
                  <a:srgbClr val="18323C"/>
                </a:solidFill>
                <a:latin typeface="DM Sans"/>
              </a:defRPr>
            </a:pPr>
            <a:r>
              <a:t>Photo marked present?</a:t>
            </a:r>
          </a:p>
        </p:txBody>
      </p:sp>
      <p:sp>
        <p:nvSpPr>
          <p:cNvPr id="11" name="Rounded Rectangle 10"/>
          <p:cNvSpPr/>
          <p:nvPr/>
        </p:nvSpPr>
        <p:spPr>
          <a:xfrm>
            <a:off x="6619875" y="4019549"/>
            <a:ext cx="5048250" cy="2571750"/>
          </a:xfrm>
          <a:prstGeom prst="roundRect">
            <a:avLst>
              <a:gd name="adj" fmla="val 7000"/>
            </a:avLst>
          </a:prstGeom>
          <a:solidFill>
            <a:srgbClr val="E5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05625" y="4352925"/>
            <a:ext cx="4476750" cy="428625"/>
          </a:xfrm>
          <a:prstGeom prst="rect">
            <a:avLst/>
          </a:prstGeom>
          <a:noFill/>
        </p:spPr>
        <p:txBody>
          <a:bodyPr wrap="square" anchor="t" lIns="0" rIns="0" tIns="0" bIns="0">
            <a:spAutoFit/>
          </a:bodyPr>
          <a:lstStyle/>
          <a:p>
            <a:pPr algn="l">
              <a:lnSpc>
                <a:spcPct val="114000"/>
              </a:lnSpc>
              <a:spcBef>
                <a:spcPts val="0"/>
              </a:spcBef>
              <a:spcAft>
                <a:spcPts val="0"/>
              </a:spcAft>
              <a:defRPr sz="1725" b="1">
                <a:solidFill>
                  <a:srgbClr val="146B57"/>
                </a:solidFill>
                <a:latin typeface="DM Sans"/>
              </a:defRPr>
            </a:pPr>
            <a:r>
              <a:t>CHECK THE INSTRUCTIONS</a:t>
            </a:r>
          </a:p>
        </p:txBody>
      </p:sp>
      <p:sp>
        <p:nvSpPr>
          <p:cNvPr id="13" name="TextBox 12"/>
          <p:cNvSpPr txBox="1"/>
          <p:nvPr/>
        </p:nvSpPr>
        <p:spPr>
          <a:xfrm>
            <a:off x="6905625" y="5019675"/>
            <a:ext cx="4476750" cy="1476375"/>
          </a:xfrm>
          <a:prstGeom prst="rect">
            <a:avLst/>
          </a:prstGeom>
          <a:noFill/>
        </p:spPr>
        <p:txBody>
          <a:bodyPr wrap="square" anchor="t" lIns="0" rIns="0" tIns="0" bIns="0">
            <a:spAutoFit/>
          </a:bodyPr>
          <a:lstStyle/>
          <a:p>
            <a:pPr algn="l">
              <a:lnSpc>
                <a:spcPct val="114000"/>
              </a:lnSpc>
              <a:spcBef>
                <a:spcPts val="0"/>
              </a:spcBef>
              <a:spcAft>
                <a:spcPts val="0"/>
              </a:spcAft>
              <a:defRPr sz="2625" b="1">
                <a:solidFill>
                  <a:srgbClr val="146B57"/>
                </a:solidFill>
                <a:latin typeface="DM Sans"/>
              </a:defRPr>
            </a:pPr>
            <a:r>
              <a:t>Did the assistant</a:t>
            </a:r>
          </a:p>
          <a:p>
            <a:pPr algn="l">
              <a:lnSpc>
                <a:spcPct val="114000"/>
              </a:lnSpc>
              <a:spcBef>
                <a:spcPts val="0"/>
              </a:spcBef>
              <a:spcAft>
                <a:spcPts val="0"/>
              </a:spcAft>
              <a:defRPr sz="2625" b="1">
                <a:solidFill>
                  <a:srgbClr val="146B57"/>
                </a:solidFill>
                <a:latin typeface="DM Sans"/>
              </a:defRPr>
            </a:pPr>
            <a:r>
              <a:t>weaken the original rules?</a:t>
            </a:r>
          </a:p>
        </p:txBody>
      </p:sp>
      <p:sp>
        <p:nvSpPr>
          <p:cNvPr id="14" name="Rounded Rectangle 13"/>
          <p:cNvSpPr/>
          <p:nvPr/>
        </p:nvSpPr>
        <p:spPr>
          <a:xfrm>
            <a:off x="12287250" y="4019549"/>
            <a:ext cx="5048250" cy="2571750"/>
          </a:xfrm>
          <a:prstGeom prst="roundRect">
            <a:avLst>
              <a:gd name="adj" fmla="val 7000"/>
            </a:avLst>
          </a:prstGeom>
          <a:solidFill>
            <a:srgbClr val="FBE5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573000" y="4352925"/>
            <a:ext cx="4476750" cy="428625"/>
          </a:xfrm>
          <a:prstGeom prst="rect">
            <a:avLst/>
          </a:prstGeom>
          <a:noFill/>
        </p:spPr>
        <p:txBody>
          <a:bodyPr wrap="square" anchor="t" lIns="0" rIns="0" tIns="0" bIns="0">
            <a:spAutoFit/>
          </a:bodyPr>
          <a:lstStyle/>
          <a:p>
            <a:pPr algn="l">
              <a:lnSpc>
                <a:spcPct val="114000"/>
              </a:lnSpc>
              <a:spcBef>
                <a:spcPts val="0"/>
              </a:spcBef>
              <a:spcAft>
                <a:spcPts val="0"/>
              </a:spcAft>
              <a:defRPr sz="1725" b="1">
                <a:solidFill>
                  <a:srgbClr val="D94B27"/>
                </a:solidFill>
                <a:latin typeface="DM Sans"/>
              </a:defRPr>
            </a:pPr>
            <a:r>
              <a:t>CHECK THE LESSONS</a:t>
            </a:r>
          </a:p>
        </p:txBody>
      </p:sp>
      <p:sp>
        <p:nvSpPr>
          <p:cNvPr id="16" name="TextBox 15"/>
          <p:cNvSpPr txBox="1"/>
          <p:nvPr/>
        </p:nvSpPr>
        <p:spPr>
          <a:xfrm>
            <a:off x="12573000" y="5019675"/>
            <a:ext cx="4476750" cy="1476375"/>
          </a:xfrm>
          <a:prstGeom prst="rect">
            <a:avLst/>
          </a:prstGeom>
          <a:noFill/>
        </p:spPr>
        <p:txBody>
          <a:bodyPr wrap="square" anchor="t" lIns="0" rIns="0" tIns="0" bIns="0">
            <a:spAutoFit/>
          </a:bodyPr>
          <a:lstStyle/>
          <a:p>
            <a:pPr algn="l">
              <a:lnSpc>
                <a:spcPct val="114000"/>
              </a:lnSpc>
              <a:spcBef>
                <a:spcPts val="0"/>
              </a:spcBef>
              <a:spcAft>
                <a:spcPts val="0"/>
              </a:spcAft>
              <a:defRPr sz="2625" b="1">
                <a:solidFill>
                  <a:srgbClr val="D94B27"/>
                </a:solidFill>
                <a:latin typeface="DM Sans"/>
              </a:defRPr>
            </a:pPr>
            <a:r>
              <a:t>Are its saved notes</a:t>
            </a:r>
          </a:p>
          <a:p>
            <a:pPr algn="l">
              <a:lnSpc>
                <a:spcPct val="114000"/>
              </a:lnSpc>
              <a:spcBef>
                <a:spcPts val="0"/>
              </a:spcBef>
              <a:spcAft>
                <a:spcPts val="0"/>
              </a:spcAft>
              <a:defRPr sz="2625" b="1">
                <a:solidFill>
                  <a:srgbClr val="D94B27"/>
                </a:solidFill>
                <a:latin typeface="DM Sans"/>
              </a:defRPr>
            </a:pPr>
            <a:r>
              <a:t>encouraging exceptions?</a:t>
            </a:r>
          </a:p>
        </p:txBody>
      </p:sp>
      <p:sp>
        <p:nvSpPr>
          <p:cNvPr id="17" name="Rectangle 16"/>
          <p:cNvSpPr/>
          <p:nvPr/>
        </p:nvSpPr>
        <p:spPr>
          <a:xfrm>
            <a:off x="3476625" y="6591300"/>
            <a:ext cx="28575" cy="457200"/>
          </a:xfrm>
          <a:prstGeom prst="rect">
            <a:avLst/>
          </a:prstGeom>
          <a:solidFill>
            <a:srgbClr val="D7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0" y="6591300"/>
            <a:ext cx="28575" cy="457200"/>
          </a:xfrm>
          <a:prstGeom prst="rect">
            <a:avLst/>
          </a:prstGeom>
          <a:solidFill>
            <a:srgbClr val="D7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4811375" y="6591300"/>
            <a:ext cx="28575" cy="457200"/>
          </a:xfrm>
          <a:prstGeom prst="rect">
            <a:avLst/>
          </a:prstGeom>
          <a:solidFill>
            <a:srgbClr val="D7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76625" y="7029450"/>
            <a:ext cx="11363325" cy="28575"/>
          </a:xfrm>
          <a:prstGeom prst="rect">
            <a:avLst/>
          </a:prstGeom>
          <a:solidFill>
            <a:srgbClr val="D7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905500" y="6819900"/>
            <a:ext cx="6477000" cy="495299"/>
          </a:xfrm>
          <a:prstGeom prst="roundRect">
            <a:avLst>
              <a:gd name="adj" fmla="val 7000"/>
            </a:avLst>
          </a:prstGeom>
          <a:solidFill>
            <a:srgbClr val="183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6000" y="6896100"/>
            <a:ext cx="6096000" cy="381000"/>
          </a:xfrm>
          <a:prstGeom prst="rect">
            <a:avLst/>
          </a:prstGeom>
          <a:noFill/>
        </p:spPr>
        <p:txBody>
          <a:bodyPr wrap="square" anchor="t" lIns="0" rIns="0" tIns="0" bIns="0">
            <a:spAutoFit/>
          </a:bodyPr>
          <a:lstStyle/>
          <a:p>
            <a:pPr algn="ctr">
              <a:lnSpc>
                <a:spcPct val="114000"/>
              </a:lnSpc>
              <a:spcBef>
                <a:spcPts val="0"/>
              </a:spcBef>
              <a:spcAft>
                <a:spcPts val="0"/>
              </a:spcAft>
              <a:defRPr sz="2025" b="1">
                <a:solidFill>
                  <a:srgbClr val="FFFFFF"/>
                </a:solidFill>
                <a:latin typeface="DM Sans"/>
              </a:defRPr>
            </a:pPr>
            <a:r>
              <a:t>Together → one safety decision</a:t>
            </a:r>
          </a:p>
        </p:txBody>
      </p:sp>
      <p:sp>
        <p:nvSpPr>
          <p:cNvPr id="23" name="Rectangle 22"/>
          <p:cNvSpPr/>
          <p:nvPr/>
        </p:nvSpPr>
        <p:spPr>
          <a:xfrm>
            <a:off x="9144000" y="7315200"/>
            <a:ext cx="28575" cy="190500"/>
          </a:xfrm>
          <a:prstGeom prst="rect">
            <a:avLst/>
          </a:prstGeom>
          <a:solidFill>
            <a:srgbClr val="D7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476625" y="7486650"/>
            <a:ext cx="11363325" cy="28575"/>
          </a:xfrm>
          <a:prstGeom prst="rect">
            <a:avLst/>
          </a:prstGeom>
          <a:solidFill>
            <a:srgbClr val="D7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476625" y="7486650"/>
            <a:ext cx="28575" cy="133350"/>
          </a:xfrm>
          <a:prstGeom prst="rect">
            <a:avLst/>
          </a:prstGeom>
          <a:solidFill>
            <a:srgbClr val="D7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44000" y="7486650"/>
            <a:ext cx="28575" cy="133350"/>
          </a:xfrm>
          <a:prstGeom prst="rect">
            <a:avLst/>
          </a:prstGeom>
          <a:solidFill>
            <a:srgbClr val="D7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4811375" y="7486650"/>
            <a:ext cx="28575" cy="133350"/>
          </a:xfrm>
          <a:prstGeom prst="rect">
            <a:avLst/>
          </a:prstGeom>
          <a:solidFill>
            <a:srgbClr val="D7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52500" y="7620000"/>
            <a:ext cx="5048250" cy="1171575"/>
          </a:xfrm>
          <a:prstGeom prst="roundRect">
            <a:avLst>
              <a:gd name="adj" fmla="val 7000"/>
            </a:avLst>
          </a:prstGeom>
          <a:solidFill>
            <a:srgbClr val="E5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00150" y="7753349"/>
            <a:ext cx="4552950" cy="933449"/>
          </a:xfrm>
          <a:prstGeom prst="rect">
            <a:avLst/>
          </a:prstGeom>
          <a:noFill/>
        </p:spPr>
        <p:txBody>
          <a:bodyPr wrap="square" anchor="t" lIns="0" rIns="0" tIns="0" bIns="0">
            <a:spAutoFit/>
          </a:bodyPr>
          <a:lstStyle/>
          <a:p>
            <a:pPr algn="ctr">
              <a:lnSpc>
                <a:spcPct val="114000"/>
              </a:lnSpc>
              <a:spcBef>
                <a:spcPts val="0"/>
              </a:spcBef>
              <a:spcAft>
                <a:spcPts val="0"/>
              </a:spcAft>
              <a:defRPr sz="2400" b="1">
                <a:solidFill>
                  <a:srgbClr val="146B57"/>
                </a:solidFill>
                <a:latin typeface="DM Sans"/>
              </a:defRPr>
            </a:pPr>
            <a:r>
              <a:t>Continue only</a:t>
            </a:r>
          </a:p>
          <a:p>
            <a:pPr algn="ctr">
              <a:lnSpc>
                <a:spcPct val="114000"/>
              </a:lnSpc>
              <a:spcBef>
                <a:spcPts val="0"/>
              </a:spcBef>
              <a:spcAft>
                <a:spcPts val="0"/>
              </a:spcAft>
              <a:defRPr sz="2400" b="1">
                <a:solidFill>
                  <a:srgbClr val="146B57"/>
                </a:solidFill>
                <a:latin typeface="DM Sans"/>
              </a:defRPr>
            </a:pPr>
            <a:r>
              <a:t>if safe</a:t>
            </a:r>
          </a:p>
        </p:txBody>
      </p:sp>
      <p:sp>
        <p:nvSpPr>
          <p:cNvPr id="30" name="Rounded Rectangle 29"/>
          <p:cNvSpPr/>
          <p:nvPr/>
        </p:nvSpPr>
        <p:spPr>
          <a:xfrm>
            <a:off x="6619875" y="7620000"/>
            <a:ext cx="5048250" cy="1171575"/>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67525" y="7753349"/>
            <a:ext cx="4552950" cy="933449"/>
          </a:xfrm>
          <a:prstGeom prst="rect">
            <a:avLst/>
          </a:prstGeom>
          <a:noFill/>
        </p:spPr>
        <p:txBody>
          <a:bodyPr wrap="square" anchor="t" lIns="0" rIns="0" tIns="0" bIns="0">
            <a:spAutoFit/>
          </a:bodyPr>
          <a:lstStyle/>
          <a:p>
            <a:pPr algn="ctr">
              <a:lnSpc>
                <a:spcPct val="114000"/>
              </a:lnSpc>
              <a:spcBef>
                <a:spcPts val="0"/>
              </a:spcBef>
              <a:spcAft>
                <a:spcPts val="0"/>
              </a:spcAft>
              <a:defRPr sz="2400" b="1">
                <a:solidFill>
                  <a:srgbClr val="18323C"/>
                </a:solidFill>
                <a:latin typeface="DM Sans"/>
              </a:defRPr>
            </a:pPr>
            <a:r>
              <a:t>Stop → local</a:t>
            </a:r>
          </a:p>
          <a:p>
            <a:pPr algn="ctr">
              <a:lnSpc>
                <a:spcPct val="114000"/>
              </a:lnSpc>
              <a:spcBef>
                <a:spcPts val="0"/>
              </a:spcBef>
              <a:spcAft>
                <a:spcPts val="0"/>
              </a:spcAft>
              <a:defRPr sz="2400" b="1">
                <a:solidFill>
                  <a:srgbClr val="18323C"/>
                </a:solidFill>
                <a:latin typeface="DM Sans"/>
              </a:defRPr>
            </a:pPr>
            <a:r>
              <a:t>human review</a:t>
            </a:r>
          </a:p>
        </p:txBody>
      </p:sp>
      <p:sp>
        <p:nvSpPr>
          <p:cNvPr id="32" name="Rounded Rectangle 31"/>
          <p:cNvSpPr/>
          <p:nvPr/>
        </p:nvSpPr>
        <p:spPr>
          <a:xfrm>
            <a:off x="12287250" y="7620000"/>
            <a:ext cx="5048250" cy="1171575"/>
          </a:xfrm>
          <a:prstGeom prst="roundRect">
            <a:avLst>
              <a:gd name="adj" fmla="val 7000"/>
            </a:avLst>
          </a:prstGeom>
          <a:solidFill>
            <a:srgbClr val="FBE5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534900" y="7753349"/>
            <a:ext cx="4552950" cy="933449"/>
          </a:xfrm>
          <a:prstGeom prst="rect">
            <a:avLst/>
          </a:prstGeom>
          <a:noFill/>
        </p:spPr>
        <p:txBody>
          <a:bodyPr wrap="square" anchor="t" lIns="0" rIns="0" tIns="0" bIns="0">
            <a:spAutoFit/>
          </a:bodyPr>
          <a:lstStyle/>
          <a:p>
            <a:pPr algn="ctr">
              <a:lnSpc>
                <a:spcPct val="114000"/>
              </a:lnSpc>
              <a:spcBef>
                <a:spcPts val="0"/>
              </a:spcBef>
              <a:spcAft>
                <a:spcPts val="0"/>
              </a:spcAft>
              <a:defRPr sz="2400" b="1">
                <a:solidFill>
                  <a:srgbClr val="D94B27"/>
                </a:solidFill>
                <a:latin typeface="DM Sans"/>
              </a:defRPr>
            </a:pPr>
            <a:r>
              <a:t>Bad rewrite → restore</a:t>
            </a:r>
          </a:p>
          <a:p>
            <a:pPr algn="ctr">
              <a:lnSpc>
                <a:spcPct val="114000"/>
              </a:lnSpc>
              <a:spcBef>
                <a:spcPts val="0"/>
              </a:spcBef>
              <a:spcAft>
                <a:spcPts val="0"/>
              </a:spcAft>
              <a:defRPr sz="2400" b="1">
                <a:solidFill>
                  <a:srgbClr val="D94B27"/>
                </a:solidFill>
                <a:latin typeface="DM Sans"/>
              </a:defRPr>
            </a:pPr>
            <a:r>
              <a:t>safe instructions + notes</a:t>
            </a:r>
          </a:p>
        </p:txBody>
      </p:sp>
      <p:sp>
        <p:nvSpPr>
          <p:cNvPr id="34" name="TextBox 33"/>
          <p:cNvSpPr txBox="1"/>
          <p:nvPr/>
        </p:nvSpPr>
        <p:spPr>
          <a:xfrm>
            <a:off x="952500" y="9096375"/>
            <a:ext cx="16383000" cy="476250"/>
          </a:xfrm>
          <a:prstGeom prst="rect">
            <a:avLst/>
          </a:prstGeom>
          <a:noFill/>
        </p:spPr>
        <p:txBody>
          <a:bodyPr wrap="square" anchor="t" lIns="0" rIns="0" tIns="0" bIns="0">
            <a:spAutoFit/>
          </a:bodyPr>
          <a:lstStyle/>
          <a:p>
            <a:pPr algn="l">
              <a:lnSpc>
                <a:spcPct val="114000"/>
              </a:lnSpc>
              <a:spcBef>
                <a:spcPts val="0"/>
              </a:spcBef>
              <a:spcAft>
                <a:spcPts val="0"/>
              </a:spcAft>
              <a:defRPr sz="2175" b="0">
                <a:solidFill>
                  <a:srgbClr val="536872"/>
                </a:solidFill>
                <a:latin typeface="DM Sans"/>
              </a:defRPr>
            </a:pPr>
            <a:r>
              <a:t>Output: decision + saved evidence. Jev is the judgment model—not the rule-maker.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2E8"/>
        </a:solidFill>
        <a:effectLst/>
      </p:bgPr>
    </p:bg>
    <p:spTree>
      <p:nvGrpSpPr>
        <p:cNvPr id="1" name=""/>
        <p:cNvGrpSpPr/>
        <p:nvPr/>
      </p:nvGrpSpPr>
      <p:grpSpPr/>
      <p:sp>
        <p:nvSpPr>
          <p:cNvPr id="2" name="TextBox 1"/>
          <p:cNvSpPr txBox="1"/>
          <p:nvPr/>
        </p:nvSpPr>
        <p:spPr>
          <a:xfrm>
            <a:off x="952500" y="619125"/>
            <a:ext cx="16383000" cy="381000"/>
          </a:xfrm>
          <a:prstGeom prst="rect">
            <a:avLst/>
          </a:prstGeom>
          <a:noFill/>
        </p:spPr>
        <p:txBody>
          <a:bodyPr wrap="square" anchor="t" lIns="0" rIns="0" tIns="0" bIns="0">
            <a:spAutoFit/>
          </a:bodyPr>
          <a:lstStyle/>
          <a:p>
            <a:pPr algn="l">
              <a:lnSpc>
                <a:spcPct val="114000"/>
              </a:lnSpc>
              <a:spcBef>
                <a:spcPts val="0"/>
              </a:spcBef>
              <a:spcAft>
                <a:spcPts val="0"/>
              </a:spcAft>
              <a:defRPr sz="1800" b="1">
                <a:solidFill>
                  <a:srgbClr val="146B57"/>
                </a:solidFill>
                <a:latin typeface="DM Sans"/>
              </a:defRPr>
            </a:pPr>
            <a:r>
              <a:t>AFTER THE DECISION  /  STAGE 4: VERIFY</a:t>
            </a:r>
          </a:p>
        </p:txBody>
      </p:sp>
      <p:sp>
        <p:nvSpPr>
          <p:cNvPr id="3" name="TextBox 2"/>
          <p:cNvSpPr txBox="1"/>
          <p:nvPr/>
        </p:nvSpPr>
        <p:spPr>
          <a:xfrm>
            <a:off x="952500" y="1352550"/>
            <a:ext cx="16383000" cy="1238250"/>
          </a:xfrm>
          <a:prstGeom prst="rect">
            <a:avLst/>
          </a:prstGeom>
          <a:noFill/>
        </p:spPr>
        <p:txBody>
          <a:bodyPr wrap="square" anchor="t" lIns="0" rIns="0" tIns="0" bIns="0">
            <a:spAutoFit/>
          </a:bodyPr>
          <a:lstStyle/>
          <a:p>
            <a:pPr algn="l">
              <a:lnSpc>
                <a:spcPct val="114000"/>
              </a:lnSpc>
              <a:spcBef>
                <a:spcPts val="0"/>
              </a:spcBef>
              <a:spcAft>
                <a:spcPts val="0"/>
              </a:spcAft>
              <a:defRPr sz="6150" b="1">
                <a:solidFill>
                  <a:srgbClr val="18323C"/>
                </a:solidFill>
                <a:latin typeface="DM Sans"/>
              </a:defRPr>
            </a:pPr>
            <a:r>
              <a:t>Check the record—not the AI’s word.</a:t>
            </a:r>
          </a:p>
        </p:txBody>
      </p:sp>
      <p:sp>
        <p:nvSpPr>
          <p:cNvPr id="4" name="TextBox 3"/>
          <p:cNvSpPr txBox="1"/>
          <p:nvPr/>
        </p:nvSpPr>
        <p:spPr>
          <a:xfrm>
            <a:off x="952500" y="2686050"/>
            <a:ext cx="16383000" cy="857250"/>
          </a:xfrm>
          <a:prstGeom prst="rect">
            <a:avLst/>
          </a:prstGeom>
          <a:noFill/>
        </p:spPr>
        <p:txBody>
          <a:bodyPr wrap="square" anchor="t" lIns="0" rIns="0" tIns="0" bIns="0">
            <a:spAutoFit/>
          </a:bodyPr>
          <a:lstStyle/>
          <a:p>
            <a:pPr algn="l">
              <a:lnSpc>
                <a:spcPct val="114000"/>
              </a:lnSpc>
              <a:spcBef>
                <a:spcPts val="0"/>
              </a:spcBef>
              <a:spcAft>
                <a:spcPts val="0"/>
              </a:spcAft>
              <a:defRPr sz="2550" b="0">
                <a:solidFill>
                  <a:srgbClr val="536872"/>
                </a:solidFill>
                <a:latin typeface="DM Sans"/>
              </a:defRPr>
            </a:pPr>
            <a:r>
              <a:t>A decision receipt another person can re-check—without asking an AI.</a:t>
            </a:r>
          </a:p>
        </p:txBody>
      </p:sp>
      <p:sp>
        <p:nvSpPr>
          <p:cNvPr id="5" name="Rectangle 4"/>
          <p:cNvSpPr/>
          <p:nvPr/>
        </p:nvSpPr>
        <p:spPr>
          <a:xfrm>
            <a:off x="952500" y="9763125"/>
            <a:ext cx="16383000" cy="19050"/>
          </a:xfrm>
          <a:prstGeom prst="rect">
            <a:avLst/>
          </a:prstGeom>
          <a:solidFill>
            <a:srgbClr val="D7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2500" y="9906000"/>
            <a:ext cx="14192250" cy="285750"/>
          </a:xfrm>
          <a:prstGeom prst="rect">
            <a:avLst/>
          </a:prstGeom>
          <a:noFill/>
        </p:spPr>
        <p:txBody>
          <a:bodyPr wrap="square" anchor="t" lIns="0" rIns="0" tIns="0" bIns="0">
            <a:spAutoFit/>
          </a:bodyPr>
          <a:lstStyle/>
          <a:p>
            <a:pPr algn="l">
              <a:lnSpc>
                <a:spcPct val="114000"/>
              </a:lnSpc>
              <a:spcBef>
                <a:spcPts val="0"/>
              </a:spcBef>
              <a:spcAft>
                <a:spcPts val="0"/>
              </a:spcAft>
              <a:defRPr sz="1500" b="0">
                <a:solidFill>
                  <a:srgbClr val="536872"/>
                </a:solidFill>
                <a:latin typeface="DM Sans"/>
              </a:defRPr>
            </a:pPr>
            <a:r>
              <a:t>SAAF CIRCUIT BREAKER  /  JET CARE EXAMPLE</a:t>
            </a:r>
          </a:p>
        </p:txBody>
      </p:sp>
      <p:sp>
        <p:nvSpPr>
          <p:cNvPr id="7" name="TextBox 6"/>
          <p:cNvSpPr txBox="1"/>
          <p:nvPr/>
        </p:nvSpPr>
        <p:spPr>
          <a:xfrm>
            <a:off x="16478249" y="9906000"/>
            <a:ext cx="857250" cy="285750"/>
          </a:xfrm>
          <a:prstGeom prst="rect">
            <a:avLst/>
          </a:prstGeom>
          <a:noFill/>
        </p:spPr>
        <p:txBody>
          <a:bodyPr wrap="square" anchor="t" lIns="0" rIns="0" tIns="0" bIns="0">
            <a:spAutoFit/>
          </a:bodyPr>
          <a:lstStyle/>
          <a:p>
            <a:pPr algn="r">
              <a:lnSpc>
                <a:spcPct val="114000"/>
              </a:lnSpc>
              <a:spcBef>
                <a:spcPts val="0"/>
              </a:spcBef>
              <a:spcAft>
                <a:spcPts val="0"/>
              </a:spcAft>
              <a:defRPr sz="1500" b="0">
                <a:solidFill>
                  <a:srgbClr val="536872"/>
                </a:solidFill>
                <a:latin typeface="DM Sans"/>
              </a:defRPr>
            </a:pPr>
            <a:r>
              <a:t>5 / 5</a:t>
            </a:r>
          </a:p>
        </p:txBody>
      </p:sp>
      <p:sp>
        <p:nvSpPr>
          <p:cNvPr id="8" name="Rounded Rectangle 7"/>
          <p:cNvSpPr/>
          <p:nvPr/>
        </p:nvSpPr>
        <p:spPr>
          <a:xfrm>
            <a:off x="952500" y="3924300"/>
            <a:ext cx="5048250" cy="2809875"/>
          </a:xfrm>
          <a:prstGeom prst="roundRect">
            <a:avLst>
              <a:gd name="adj" fmla="val 7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8250" y="4276725"/>
            <a:ext cx="4476750" cy="428625"/>
          </a:xfrm>
          <a:prstGeom prst="rect">
            <a:avLst/>
          </a:prstGeom>
          <a:noFill/>
        </p:spPr>
        <p:txBody>
          <a:bodyPr wrap="square" anchor="t" lIns="0" rIns="0" tIns="0" bIns="0">
            <a:spAutoFit/>
          </a:bodyPr>
          <a:lstStyle/>
          <a:p>
            <a:pPr algn="l">
              <a:lnSpc>
                <a:spcPct val="114000"/>
              </a:lnSpc>
              <a:spcBef>
                <a:spcPts val="0"/>
              </a:spcBef>
              <a:spcAft>
                <a:spcPts val="0"/>
              </a:spcAft>
              <a:defRPr sz="1875" b="1">
                <a:solidFill>
                  <a:srgbClr val="18323C"/>
                </a:solidFill>
                <a:latin typeface="DM Sans"/>
              </a:defRPr>
            </a:pPr>
            <a:r>
              <a:t>INPUT</a:t>
            </a:r>
          </a:p>
        </p:txBody>
      </p:sp>
      <p:sp>
        <p:nvSpPr>
          <p:cNvPr id="10" name="TextBox 9"/>
          <p:cNvSpPr txBox="1"/>
          <p:nvPr/>
        </p:nvSpPr>
        <p:spPr>
          <a:xfrm>
            <a:off x="1238250" y="5010150"/>
            <a:ext cx="4476750" cy="1390650"/>
          </a:xfrm>
          <a:prstGeom prst="rect">
            <a:avLst/>
          </a:prstGeom>
          <a:noFill/>
        </p:spPr>
        <p:txBody>
          <a:bodyPr wrap="square" anchor="t" lIns="0" rIns="0" tIns="0" bIns="0">
            <a:spAutoFit/>
          </a:bodyPr>
          <a:lstStyle/>
          <a:p>
            <a:pPr algn="l">
              <a:lnSpc>
                <a:spcPct val="114000"/>
              </a:lnSpc>
              <a:spcBef>
                <a:spcPts val="0"/>
              </a:spcBef>
              <a:spcAft>
                <a:spcPts val="0"/>
              </a:spcAft>
              <a:defRPr sz="2775" b="1">
                <a:solidFill>
                  <a:srgbClr val="18323C"/>
                </a:solidFill>
                <a:latin typeface="DM Sans"/>
              </a:defRPr>
            </a:pPr>
            <a:r>
              <a:t>Saved decision log</a:t>
            </a:r>
          </a:p>
          <a:p>
            <a:pPr algn="l">
              <a:lnSpc>
                <a:spcPct val="114000"/>
              </a:lnSpc>
              <a:spcBef>
                <a:spcPts val="0"/>
              </a:spcBef>
              <a:spcAft>
                <a:spcPts val="0"/>
              </a:spcAft>
              <a:defRPr sz="2775" b="1">
                <a:solidFill>
                  <a:srgbClr val="18323C"/>
                </a:solidFill>
                <a:latin typeface="DM Sans"/>
              </a:defRPr>
            </a:pPr>
            <a:r>
              <a:t>+ approved rules</a:t>
            </a:r>
          </a:p>
        </p:txBody>
      </p:sp>
      <p:sp>
        <p:nvSpPr>
          <p:cNvPr id="11" name="Rounded Rectangle 10"/>
          <p:cNvSpPr/>
          <p:nvPr/>
        </p:nvSpPr>
        <p:spPr>
          <a:xfrm>
            <a:off x="6619875" y="3924300"/>
            <a:ext cx="5048250" cy="2809875"/>
          </a:xfrm>
          <a:prstGeom prst="roundRect">
            <a:avLst>
              <a:gd name="adj" fmla="val 7000"/>
            </a:avLst>
          </a:prstGeom>
          <a:solidFill>
            <a:srgbClr val="E5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05625" y="4276725"/>
            <a:ext cx="4476750" cy="428625"/>
          </a:xfrm>
          <a:prstGeom prst="rect">
            <a:avLst/>
          </a:prstGeom>
          <a:noFill/>
        </p:spPr>
        <p:txBody>
          <a:bodyPr wrap="square" anchor="t" lIns="0" rIns="0" tIns="0" bIns="0">
            <a:spAutoFit/>
          </a:bodyPr>
          <a:lstStyle/>
          <a:p>
            <a:pPr algn="l">
              <a:lnSpc>
                <a:spcPct val="114000"/>
              </a:lnSpc>
              <a:spcBef>
                <a:spcPts val="0"/>
              </a:spcBef>
              <a:spcAft>
                <a:spcPts val="0"/>
              </a:spcAft>
              <a:defRPr sz="1875" b="1">
                <a:solidFill>
                  <a:srgbClr val="146B57"/>
                </a:solidFill>
                <a:latin typeface="DM Sans"/>
              </a:defRPr>
            </a:pPr>
            <a:r>
              <a:t>CHECK</a:t>
            </a:r>
          </a:p>
        </p:txBody>
      </p:sp>
      <p:sp>
        <p:nvSpPr>
          <p:cNvPr id="13" name="TextBox 12"/>
          <p:cNvSpPr txBox="1"/>
          <p:nvPr/>
        </p:nvSpPr>
        <p:spPr>
          <a:xfrm>
            <a:off x="6905625" y="5010150"/>
            <a:ext cx="4476750" cy="1390650"/>
          </a:xfrm>
          <a:prstGeom prst="rect">
            <a:avLst/>
          </a:prstGeom>
          <a:noFill/>
        </p:spPr>
        <p:txBody>
          <a:bodyPr wrap="square" anchor="t" lIns="0" rIns="0" tIns="0" bIns="0">
            <a:spAutoFit/>
          </a:bodyPr>
          <a:lstStyle/>
          <a:p>
            <a:pPr algn="l">
              <a:lnSpc>
                <a:spcPct val="114000"/>
              </a:lnSpc>
              <a:spcBef>
                <a:spcPts val="0"/>
              </a:spcBef>
              <a:spcAft>
                <a:spcPts val="0"/>
              </a:spcAft>
              <a:defRPr sz="2775" b="1">
                <a:solidFill>
                  <a:srgbClr val="146B57"/>
                </a:solidFill>
                <a:latin typeface="DM Sans"/>
              </a:defRPr>
            </a:pPr>
            <a:r>
              <a:t>Recheck recorded details</a:t>
            </a:r>
          </a:p>
          <a:p>
            <a:pPr algn="l">
              <a:lnSpc>
                <a:spcPct val="114000"/>
              </a:lnSpc>
              <a:spcBef>
                <a:spcPts val="0"/>
              </a:spcBef>
              <a:spcAft>
                <a:spcPts val="0"/>
              </a:spcAft>
              <a:defRPr sz="2775" b="1">
                <a:solidFill>
                  <a:srgbClr val="146B57"/>
                </a:solidFill>
                <a:latin typeface="DM Sans"/>
              </a:defRPr>
            </a:pPr>
            <a:r>
              <a:t>against the rules</a:t>
            </a:r>
          </a:p>
        </p:txBody>
      </p:sp>
      <p:sp>
        <p:nvSpPr>
          <p:cNvPr id="14" name="Rounded Rectangle 13"/>
          <p:cNvSpPr/>
          <p:nvPr/>
        </p:nvSpPr>
        <p:spPr>
          <a:xfrm>
            <a:off x="12287250" y="3924300"/>
            <a:ext cx="5048250" cy="2809875"/>
          </a:xfrm>
          <a:prstGeom prst="roundRect">
            <a:avLst>
              <a:gd name="adj" fmla="val 7000"/>
            </a:avLst>
          </a:prstGeom>
          <a:solidFill>
            <a:srgbClr val="E5E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573000" y="4276725"/>
            <a:ext cx="4476750" cy="428625"/>
          </a:xfrm>
          <a:prstGeom prst="rect">
            <a:avLst/>
          </a:prstGeom>
          <a:noFill/>
        </p:spPr>
        <p:txBody>
          <a:bodyPr wrap="square" anchor="t" lIns="0" rIns="0" tIns="0" bIns="0">
            <a:spAutoFit/>
          </a:bodyPr>
          <a:lstStyle/>
          <a:p>
            <a:pPr algn="l">
              <a:lnSpc>
                <a:spcPct val="114000"/>
              </a:lnSpc>
              <a:spcBef>
                <a:spcPts val="0"/>
              </a:spcBef>
              <a:spcAft>
                <a:spcPts val="0"/>
              </a:spcAft>
              <a:defRPr sz="1875" b="1">
                <a:solidFill>
                  <a:srgbClr val="18323C"/>
                </a:solidFill>
                <a:latin typeface="DM Sans"/>
              </a:defRPr>
            </a:pPr>
            <a:r>
              <a:t>OUTPUT</a:t>
            </a:r>
          </a:p>
        </p:txBody>
      </p:sp>
      <p:sp>
        <p:nvSpPr>
          <p:cNvPr id="16" name="TextBox 15"/>
          <p:cNvSpPr txBox="1"/>
          <p:nvPr/>
        </p:nvSpPr>
        <p:spPr>
          <a:xfrm>
            <a:off x="12573000" y="5010150"/>
            <a:ext cx="4476750" cy="1390650"/>
          </a:xfrm>
          <a:prstGeom prst="rect">
            <a:avLst/>
          </a:prstGeom>
          <a:noFill/>
        </p:spPr>
        <p:txBody>
          <a:bodyPr wrap="square" anchor="t" lIns="0" rIns="0" tIns="0" bIns="0">
            <a:spAutoFit/>
          </a:bodyPr>
          <a:lstStyle/>
          <a:p>
            <a:pPr algn="l">
              <a:lnSpc>
                <a:spcPct val="114000"/>
              </a:lnSpc>
              <a:spcBef>
                <a:spcPts val="0"/>
              </a:spcBef>
              <a:spcAft>
                <a:spcPts val="0"/>
              </a:spcAft>
              <a:defRPr sz="2775" b="1">
                <a:solidFill>
                  <a:srgbClr val="18323C"/>
                </a:solidFill>
                <a:latin typeface="DM Sans"/>
              </a:defRPr>
            </a:pPr>
            <a:r>
              <a:t>Consistent / mismatch</a:t>
            </a:r>
          </a:p>
          <a:p>
            <a:pPr algn="l">
              <a:lnSpc>
                <a:spcPct val="114000"/>
              </a:lnSpc>
              <a:spcBef>
                <a:spcPts val="0"/>
              </a:spcBef>
              <a:spcAft>
                <a:spcPts val="0"/>
              </a:spcAft>
              <a:defRPr sz="2775" b="1">
                <a:solidFill>
                  <a:srgbClr val="18323C"/>
                </a:solidFill>
                <a:latin typeface="DM Sans"/>
              </a:defRPr>
            </a:pPr>
            <a:r>
              <a:t>+ a readable report</a:t>
            </a:r>
          </a:p>
        </p:txBody>
      </p:sp>
      <p:sp>
        <p:nvSpPr>
          <p:cNvPr id="17" name="TextBox 16"/>
          <p:cNvSpPr txBox="1"/>
          <p:nvPr/>
        </p:nvSpPr>
        <p:spPr>
          <a:xfrm>
            <a:off x="6067425" y="5257800"/>
            <a:ext cx="476250" cy="619125"/>
          </a:xfrm>
          <a:prstGeom prst="rect">
            <a:avLst/>
          </a:prstGeom>
          <a:noFill/>
        </p:spPr>
        <p:txBody>
          <a:bodyPr wrap="square" anchor="t" lIns="0" rIns="0" tIns="0" bIns="0">
            <a:spAutoFit/>
          </a:bodyPr>
          <a:lstStyle/>
          <a:p>
            <a:pPr algn="ctr">
              <a:lnSpc>
                <a:spcPct val="114000"/>
              </a:lnSpc>
              <a:spcBef>
                <a:spcPts val="0"/>
              </a:spcBef>
              <a:spcAft>
                <a:spcPts val="0"/>
              </a:spcAft>
              <a:defRPr sz="3300" b="0">
                <a:solidFill>
                  <a:srgbClr val="536872"/>
                </a:solidFill>
                <a:latin typeface="DM Sans"/>
              </a:defRPr>
            </a:pPr>
            <a:r>
              <a:t>→</a:t>
            </a:r>
          </a:p>
        </p:txBody>
      </p:sp>
      <p:sp>
        <p:nvSpPr>
          <p:cNvPr id="18" name="TextBox 17"/>
          <p:cNvSpPr txBox="1"/>
          <p:nvPr/>
        </p:nvSpPr>
        <p:spPr>
          <a:xfrm>
            <a:off x="11734800" y="5257800"/>
            <a:ext cx="476250" cy="619125"/>
          </a:xfrm>
          <a:prstGeom prst="rect">
            <a:avLst/>
          </a:prstGeom>
          <a:noFill/>
        </p:spPr>
        <p:txBody>
          <a:bodyPr wrap="square" anchor="t" lIns="0" rIns="0" tIns="0" bIns="0">
            <a:spAutoFit/>
          </a:bodyPr>
          <a:lstStyle/>
          <a:p>
            <a:pPr algn="ctr">
              <a:lnSpc>
                <a:spcPct val="114000"/>
              </a:lnSpc>
              <a:spcBef>
                <a:spcPts val="0"/>
              </a:spcBef>
              <a:spcAft>
                <a:spcPts val="0"/>
              </a:spcAft>
              <a:defRPr sz="3300" b="0">
                <a:solidFill>
                  <a:srgbClr val="536872"/>
                </a:solidFill>
                <a:latin typeface="DM Sans"/>
              </a:defRPr>
            </a:pPr>
            <a:r>
              <a:t>→</a:t>
            </a:r>
          </a:p>
        </p:txBody>
      </p:sp>
      <p:sp>
        <p:nvSpPr>
          <p:cNvPr id="19" name="TextBox 18"/>
          <p:cNvSpPr txBox="1"/>
          <p:nvPr/>
        </p:nvSpPr>
        <p:spPr>
          <a:xfrm>
            <a:off x="952500" y="7362825"/>
            <a:ext cx="16383000" cy="619125"/>
          </a:xfrm>
          <a:prstGeom prst="rect">
            <a:avLst/>
          </a:prstGeom>
          <a:noFill/>
        </p:spPr>
        <p:txBody>
          <a:bodyPr wrap="square" anchor="t" lIns="0" rIns="0" tIns="0" bIns="0">
            <a:spAutoFit/>
          </a:bodyPr>
          <a:lstStyle/>
          <a:p>
            <a:pPr algn="l">
              <a:lnSpc>
                <a:spcPct val="114000"/>
              </a:lnSpc>
              <a:spcBef>
                <a:spcPts val="0"/>
              </a:spcBef>
              <a:spcAft>
                <a:spcPts val="0"/>
              </a:spcAft>
              <a:defRPr sz="2775" b="1">
                <a:solidFill>
                  <a:srgbClr val="18323C"/>
                </a:solidFill>
                <a:latin typeface="DM Sans"/>
              </a:defRPr>
            </a:pPr>
            <a:r>
              <a:t>If saved details do not match → the check fails.</a:t>
            </a:r>
          </a:p>
        </p:txBody>
      </p:sp>
      <p:sp>
        <p:nvSpPr>
          <p:cNvPr id="20" name="TextBox 19"/>
          <p:cNvSpPr txBox="1"/>
          <p:nvPr/>
        </p:nvSpPr>
        <p:spPr>
          <a:xfrm>
            <a:off x="952500" y="8086725"/>
            <a:ext cx="16383000" cy="514350"/>
          </a:xfrm>
          <a:prstGeom prst="rect">
            <a:avLst/>
          </a:prstGeom>
          <a:noFill/>
        </p:spPr>
        <p:txBody>
          <a:bodyPr wrap="square" anchor="t" lIns="0" rIns="0" tIns="0" bIns="0">
            <a:spAutoFit/>
          </a:bodyPr>
          <a:lstStyle/>
          <a:p>
            <a:pPr algn="l">
              <a:lnSpc>
                <a:spcPct val="114000"/>
              </a:lnSpc>
              <a:spcBef>
                <a:spcPts val="0"/>
              </a:spcBef>
              <a:spcAft>
                <a:spcPts val="0"/>
              </a:spcAft>
              <a:defRPr sz="2175" b="0">
                <a:solidFill>
                  <a:srgbClr val="536872"/>
                </a:solidFill>
                <a:latin typeface="DM Sans"/>
              </a:defRPr>
            </a:pPr>
            <a:r>
              <a:t>Checkable evidence—not a digital signature or compliance certificate.</a:t>
            </a:r>
          </a:p>
        </p:txBody>
      </p:sp>
      <p:sp>
        <p:nvSpPr>
          <p:cNvPr id="21" name="Rounded Rectangle 20"/>
          <p:cNvSpPr/>
          <p:nvPr/>
        </p:nvSpPr>
        <p:spPr>
          <a:xfrm>
            <a:off x="952500" y="8896350"/>
            <a:ext cx="16383000" cy="762000"/>
          </a:xfrm>
          <a:prstGeom prst="roundRect">
            <a:avLst>
              <a:gd name="adj" fmla="val 7000"/>
            </a:avLst>
          </a:prstGeom>
          <a:solidFill>
            <a:srgbClr val="183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38250" y="8963025"/>
            <a:ext cx="15811500" cy="647700"/>
          </a:xfrm>
          <a:prstGeom prst="rect">
            <a:avLst/>
          </a:prstGeom>
          <a:noFill/>
        </p:spPr>
        <p:txBody>
          <a:bodyPr wrap="square" anchor="t" lIns="0" rIns="0" tIns="0" bIns="0">
            <a:spAutoFit/>
          </a:bodyPr>
          <a:lstStyle/>
          <a:p>
            <a:pPr algn="l">
              <a:lnSpc>
                <a:spcPct val="114000"/>
              </a:lnSpc>
              <a:spcBef>
                <a:spcPts val="0"/>
              </a:spcBef>
              <a:spcAft>
                <a:spcPts val="0"/>
              </a:spcAft>
              <a:defRPr sz="1950" b="0">
                <a:solidFill>
                  <a:srgbClr val="FFFFFF"/>
                </a:solidFill>
                <a:latin typeface="DM Sans"/>
              </a:defRPr>
            </a:pPr>
            <a:r>
              <a:t>Demo: real Jev + local controls; rehearsal is scripted.</a:t>
            </a:r>
          </a:p>
          <a:p>
            <a:pPr algn="l">
              <a:lnSpc>
                <a:spcPct val="114000"/>
              </a:lnSpc>
              <a:spcBef>
                <a:spcPts val="0"/>
              </a:spcBef>
              <a:spcAft>
                <a:spcPts val="0"/>
              </a:spcAft>
              <a:defRPr sz="1950" b="0">
                <a:solidFill>
                  <a:srgbClr val="FFFFFF"/>
                </a:solidFill>
                <a:latin typeface="DM Sans"/>
              </a:defRPr>
            </a:pPr>
            <a:r>
              <a:t>Not fully automated. No real refunds, signed records or certified compliance.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SAAF Circuit Breaker — a plain-language explainer</dc:title>
  <dc:subject>Five stages-and-interaction slides for hackathon organisers</dc:subject>
  <dc:creator>SAAF prototype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